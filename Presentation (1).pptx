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4"/>
  </p:sldMasterIdLst>
  <p:notesMasterIdLst>
    <p:notesMasterId r:id="rId21"/>
  </p:notesMasterIdLst>
  <p:handoutMasterIdLst>
    <p:handoutMasterId r:id="rId22"/>
  </p:handoutMasterIdLst>
  <p:sldIdLst>
    <p:sldId id="442" r:id="rId5"/>
    <p:sldId id="443" r:id="rId6"/>
    <p:sldId id="446" r:id="rId7"/>
    <p:sldId id="447" r:id="rId8"/>
    <p:sldId id="448" r:id="rId9"/>
    <p:sldId id="449" r:id="rId10"/>
    <p:sldId id="450" r:id="rId11"/>
    <p:sldId id="451" r:id="rId12"/>
    <p:sldId id="452" r:id="rId13"/>
    <p:sldId id="453" r:id="rId14"/>
    <p:sldId id="457" r:id="rId15"/>
    <p:sldId id="458" r:id="rId16"/>
    <p:sldId id="460" r:id="rId17"/>
    <p:sldId id="456" r:id="rId18"/>
    <p:sldId id="461" r:id="rId19"/>
    <p:sldId id="4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ACFC"/>
    <a:srgbClr val="09090C"/>
    <a:srgbClr val="FFFFFF"/>
    <a:srgbClr val="000000"/>
    <a:srgbClr val="9B8C69"/>
    <a:srgbClr val="79958B"/>
    <a:srgbClr val="476262"/>
    <a:srgbClr val="272D2B"/>
    <a:srgbClr val="647E6B"/>
    <a:srgbClr val="A27C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4551DB-09D5-4B21-A01C-A1204C557D1A}" v="427" dt="2026-02-28T05:58:47.376"/>
    <p1510:client id="{1BA18540-57F3-4550-8A78-BA5A89431AA0}" v="1162" dt="2026-03-01T12:55:03.692"/>
    <p1510:client id="{4079E2D9-1B72-4D2E-B611-6F57CA72C70D}" v="420" dt="2026-02-28T13:08:48.457"/>
    <p1510:client id="{6A3A30C4-DC49-460B-AADE-0EF143622E49}" v="183" dt="2026-02-28T15:50:27.728"/>
    <p1510:client id="{7E1352F9-A308-473E-8A5F-064B1CCBB997}" v="302" dt="2026-03-02T05:51:04.690"/>
    <p1510:client id="{A2405DC5-AD7A-44C9-AADE-24908E3CF66B}" v="98" dt="2026-02-28T15:55:51.765"/>
    <p1510:client id="{F08A1D0D-906D-4DCA-B77D-236C9E4A4A9A}" v="215" dt="2026-02-28T15:13:18.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16"/>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8B6240-78DA-093E-542D-EA8232A522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21978-CD08-4DE4-0B35-D8E00EB982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1042AC-E7EB-4533-80AB-C3850196CED4}" type="datetimeFigureOut">
              <a:rPr lang="en-US" smtClean="0"/>
              <a:t>3/1/2026</a:t>
            </a:fld>
            <a:endParaRPr lang="en-US"/>
          </a:p>
        </p:txBody>
      </p:sp>
      <p:sp>
        <p:nvSpPr>
          <p:cNvPr id="4" name="Footer Placeholder 3">
            <a:extLst>
              <a:ext uri="{FF2B5EF4-FFF2-40B4-BE49-F238E27FC236}">
                <a16:creationId xmlns:a16="http://schemas.microsoft.com/office/drawing/2014/main" id="{34733651-3489-31BD-ED31-0609855FBC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461A6A1-1395-B89B-42E0-2208966D9F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D1E2F7-14E3-4821-A409-B7BC1E2744B7}" type="slidenum">
              <a:rPr lang="en-US" smtClean="0"/>
              <a:t>‹#›</a:t>
            </a:fld>
            <a:endParaRPr lang="en-US"/>
          </a:p>
        </p:txBody>
      </p:sp>
    </p:spTree>
    <p:extLst>
      <p:ext uri="{BB962C8B-B14F-4D97-AF65-F5344CB8AC3E}">
        <p14:creationId xmlns:p14="http://schemas.microsoft.com/office/powerpoint/2010/main" val="22116062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63BC9-3C98-4AB2-8802-02853E289FB4}"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E5B5A-C175-4C17-879C-A25F50F472D7}" type="slidenum">
              <a:rPr lang="en-US" smtClean="0"/>
              <a:t>‹#›</a:t>
            </a:fld>
            <a:endParaRPr lang="en-US"/>
          </a:p>
        </p:txBody>
      </p:sp>
    </p:spTree>
    <p:extLst>
      <p:ext uri="{BB962C8B-B14F-4D97-AF65-F5344CB8AC3E}">
        <p14:creationId xmlns:p14="http://schemas.microsoft.com/office/powerpoint/2010/main" val="1398428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Smart Hiring Made Simple​</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74366008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7129786"/>
      </p:ext>
    </p:extLst>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847871190"/>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Smart Hiring Made Simple​</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371954567"/>
      </p:ext>
    </p:extLst>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472526761"/>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2224008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7530311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Smart Hiring Made Simple​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3/1/2026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953023037"/>
      </p:ext>
    </p:extLst>
  </p:cSld>
  <p:clrMapOvr>
    <a:masterClrMapping/>
  </p:clrMapOvr>
  <p:hf sldNum="0" hdr="0" ftr="0"/>
  <p:extLst>
    <p:ext uri="{DCECCB84-F9BA-43D5-87BE-67443E8EF086}">
      <p15:sldGuideLst xmlns:p15="http://schemas.microsoft.com/office/powerpoint/2012/main">
        <p15:guide id="6"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Smart Hiring Made Simple​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3/1/2026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1170046"/>
      </p:ext>
    </p:extLst>
  </p:cSld>
  <p:clrMapOvr>
    <a:masterClrMapping/>
  </p:clrMapOvr>
  <p:hf sldNum="0" hdr="0" ftr="0"/>
  <p:extLst>
    <p:ext uri="{DCECCB84-F9BA-43D5-87BE-67443E8EF086}">
      <p15:sldGuideLst xmlns:p15="http://schemas.microsoft.com/office/powerpoint/2012/main">
        <p15:guide id="6"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Smart Hiring Made Simple​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3/1/2026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880386913"/>
      </p:ext>
    </p:extLst>
  </p:cSld>
  <p:clrMapOvr>
    <a:masterClrMapping/>
  </p:clrMapOvr>
  <p:hf sldNum="0" hdr="0" ftr="0"/>
  <p:extLst>
    <p:ext uri="{DCECCB84-F9BA-43D5-87BE-67443E8EF086}">
      <p15:sldGuideLst xmlns:p15="http://schemas.microsoft.com/office/powerpoint/2012/main">
        <p15:guide id="6"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744259519"/>
      </p:ext>
    </p:extLst>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430262198"/>
      </p:ext>
    </p:extLst>
  </p:cSld>
  <p:clrMapOvr>
    <a:masterClrMapping/>
  </p:clrMapOvr>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Smart Hiring Made Simple​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991402077"/>
      </p:ext>
    </p:extLst>
  </p:cSld>
  <p:clrMapOvr>
    <a:masterClrMapping/>
  </p:clrMapOvr>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3/1/2026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780051323"/>
      </p:ext>
    </p:extLst>
  </p:cSld>
  <p:clrMapOvr>
    <a:masterClrMapping/>
  </p:clrMapOvr>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3/1/2026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899343965"/>
      </p:ext>
    </p:extLst>
  </p:cSld>
  <p:clrMapOvr>
    <a:masterClrMapping/>
  </p:clrMapOvr>
  <p:hf sldNum="0"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Smart Hiring Made Simple​</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1338958"/>
      </p:ext>
    </p:extLst>
  </p:cSld>
  <p:clrMapOvr>
    <a:masterClrMapping/>
  </p:clrMapOvr>
  <p:hf sldNum="0"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723400"/>
      </p:ext>
    </p:extLst>
  </p:cSld>
  <p:clrMapOvr>
    <a:masterClrMapping/>
  </p:clrMapOvr>
  <p:hf sldNum="0"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Tree>
    <p:extLst>
      <p:ext uri="{BB962C8B-B14F-4D97-AF65-F5344CB8AC3E}">
        <p14:creationId xmlns:p14="http://schemas.microsoft.com/office/powerpoint/2010/main" val="687031790"/>
      </p:ext>
    </p:extLst>
  </p:cSld>
  <p:clrMapOvr>
    <a:masterClrMapping/>
  </p:clrMapOvr>
  <p:hf sldNum="0"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0158933"/>
      </p:ext>
    </p:extLst>
  </p:cSld>
  <p:clrMapOvr>
    <a:masterClrMapping/>
  </p:clrMapOvr>
  <p:hf sldNum="0"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8896659"/>
      </p:ext>
    </p:extLst>
  </p:cSld>
  <p:clrMapOvr>
    <a:masterClrMapping/>
  </p:clrMapOvr>
  <p:hf sldNum="0"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9351453"/>
      </p:ext>
    </p:extLst>
  </p:cSld>
  <p:clrMapOvr>
    <a:masterClrMapping/>
  </p:clrMapOvr>
  <p:hf sldNum="0"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6649807"/>
      </p:ext>
    </p:extLst>
  </p:cSld>
  <p:clrMapOvr>
    <a:masterClrMapping/>
  </p:clrMapOvr>
  <p:hf sldNum="0"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6600544"/>
      </p:ext>
    </p:extLst>
  </p:cSld>
  <p:clrMapOvr>
    <a:masterClrMapping/>
  </p:clrMapOvr>
  <p:hf sldNum="0"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998738"/>
      </p:ext>
    </p:extLst>
  </p:cSld>
  <p:clrMapOvr>
    <a:masterClrMapping/>
  </p:clrMapOvr>
  <p:hf sldNum="0"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2496823"/>
      </p:ext>
    </p:extLst>
  </p:cSld>
  <p:clrMapOvr>
    <a:masterClrMapping/>
  </p:clrMapOvr>
  <p:hf sldNum="0"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7625555"/>
      </p:ext>
    </p:extLst>
  </p:cSld>
  <p:clrMapOvr>
    <a:masterClrMapping/>
  </p:clrMapOvr>
  <p:hf sldNum="0"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574308722"/>
      </p:ext>
    </p:extLst>
  </p:cSld>
  <p:clrMapOvr>
    <a:masterClrMapping/>
  </p:clrMapOvr>
  <p:hf sldNum="0"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289947"/>
      </p:ext>
    </p:extLst>
  </p:cSld>
  <p:clrMapOvr>
    <a:masterClrMapping/>
  </p:clrMapOvr>
  <p:hf sldNum="0" hdr="0" ft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685358234"/>
      </p:ext>
    </p:extLst>
  </p:cSld>
  <p:clrMapOvr>
    <a:masterClrMapping/>
  </p:clrMapOvr>
  <p:hf sldNum="0" hdr="0" ft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a:t>Smart Hiring Made Simple​</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0799514"/>
      </p:ext>
    </p:extLst>
  </p:cSld>
  <p:clrMapOvr>
    <a:masterClrMapping/>
  </p:clrMapOvr>
  <p:hf sldNum="0" hdr="0" ft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9971139"/>
      </p:ext>
    </p:extLst>
  </p:cSld>
  <p:clrMapOvr>
    <a:masterClrMapping/>
  </p:clrMapOvr>
  <p:hf sldNum="0" hdr="0" ft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3253384"/>
      </p:ext>
    </p:extLst>
  </p:cSld>
  <p:clrMapOvr>
    <a:masterClrMapping/>
  </p:clrMapOvr>
  <p:hf sldNum="0" hdr="0" ft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7134347"/>
      </p:ext>
    </p:extLst>
  </p:cSld>
  <p:clrMapOvr>
    <a:masterClrMapping/>
  </p:clrMapOvr>
  <p:hf sldNum="0" hdr="0" ft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682498099"/>
      </p:ext>
    </p:extLst>
  </p:cSld>
  <p:clrMapOvr>
    <a:masterClrMapping/>
  </p:clrMapOvr>
  <p:hf sldNum="0" hdr="0" ft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0860466"/>
      </p:ext>
    </p:extLst>
  </p:cSld>
  <p:clrMapOvr>
    <a:masterClrMapping/>
  </p:clrMapOvr>
  <p:hf sldNum="0" hdr="0" ft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870853827"/>
      </p:ext>
    </p:extLst>
  </p:cSld>
  <p:clrMapOvr>
    <a:masterClrMapping/>
  </p:clrMapOvr>
  <p:hf sldNum="0" hdr="0" ft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310164473"/>
      </p:ext>
    </p:extLst>
  </p:cSld>
  <p:clrMapOvr>
    <a:masterClrMapping/>
  </p:clrMapOvr>
  <p:hf sldNum="0" hdr="0" ft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852135740"/>
      </p:ext>
    </p:extLst>
  </p:cSld>
  <p:clrMapOvr>
    <a:masterClrMapping/>
  </p:clrMapOvr>
  <p:hf sldNum="0" hdr="0" ft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751743387"/>
      </p:ext>
    </p:extLst>
  </p:cSld>
  <p:clrMapOvr>
    <a:masterClrMapping/>
  </p:clrMapOvr>
  <p:hf sldNum="0" hdr="0" ft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0926036"/>
      </p:ext>
    </p:extLst>
  </p:cSld>
  <p:clrMapOvr>
    <a:masterClrMapping/>
  </p:clrMapOvr>
  <p:hf sldNum="0" hdr="0" ft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577167632"/>
      </p:ext>
    </p:extLst>
  </p:cSld>
  <p:clrMapOvr>
    <a:masterClrMapping/>
  </p:clrMapOvr>
  <p:hf sldNum="0" hdr="0" ftr="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3712639"/>
      </p:ext>
    </p:extLst>
  </p:cSld>
  <p:clrMapOvr>
    <a:masterClrMapping/>
  </p:clrMapOvr>
  <p:hf sldNum="0" hdr="0" ftr="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9937526"/>
      </p:ext>
    </p:extLst>
  </p:cSld>
  <p:clrMapOvr>
    <a:masterClrMapping/>
  </p:clrMapOvr>
  <p:hf sldNum="0" hdr="0" ft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3/1/2026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a:t>XX%</a:t>
            </a:r>
          </a:p>
        </p:txBody>
      </p:sp>
    </p:spTree>
    <p:extLst>
      <p:ext uri="{BB962C8B-B14F-4D97-AF65-F5344CB8AC3E}">
        <p14:creationId xmlns:p14="http://schemas.microsoft.com/office/powerpoint/2010/main" val="2407166864"/>
      </p:ext>
    </p:extLst>
  </p:cSld>
  <p:clrMapOvr>
    <a:masterClrMapping/>
  </p:clrMapOvr>
  <p:hf sldNum="0"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3/1/2026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a:t>##%</a:t>
            </a:r>
          </a:p>
        </p:txBody>
      </p:sp>
    </p:spTree>
    <p:extLst>
      <p:ext uri="{BB962C8B-B14F-4D97-AF65-F5344CB8AC3E}">
        <p14:creationId xmlns:p14="http://schemas.microsoft.com/office/powerpoint/2010/main" val="767139995"/>
      </p:ext>
    </p:extLst>
  </p:cSld>
  <p:clrMapOvr>
    <a:masterClrMapping/>
  </p:clrMapOvr>
  <p:hf sldNum="0" hdr="0" ftr="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3/1/2026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a:t>##%</a:t>
            </a:r>
          </a:p>
        </p:txBody>
      </p:sp>
    </p:spTree>
    <p:extLst>
      <p:ext uri="{BB962C8B-B14F-4D97-AF65-F5344CB8AC3E}">
        <p14:creationId xmlns:p14="http://schemas.microsoft.com/office/powerpoint/2010/main" val="2997601011"/>
      </p:ext>
    </p:extLst>
  </p:cSld>
  <p:clrMapOvr>
    <a:masterClrMapping/>
  </p:clrMapOvr>
  <p:hf sldNum="0"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4800153"/>
      </p:ext>
    </p:extLst>
  </p:cSld>
  <p:clrMapOvr>
    <a:masterClrMapping/>
  </p:clrMapOvr>
  <p:hf sldNum="0" hdr="0" ftr="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2362714"/>
      </p:ext>
    </p:extLst>
  </p:cSld>
  <p:clrMapOvr>
    <a:masterClrMapping/>
  </p:clrMapOvr>
  <p:hf sldNum="0"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5794183"/>
      </p:ext>
    </p:extLst>
  </p:cSld>
  <p:clrMapOvr>
    <a:masterClrMapping/>
  </p:clrMapOvr>
  <p:hf sldNum="0" hdr="0" ftr="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0602640"/>
      </p:ext>
    </p:extLst>
  </p:cSld>
  <p:clrMapOvr>
    <a:masterClrMapping/>
  </p:clrMapOvr>
  <p:hf sldNum="0" hdr="0" ft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570329594"/>
      </p:ext>
    </p:extLst>
  </p:cSld>
  <p:clrMapOvr>
    <a:masterClrMapping/>
  </p:clrMapOvr>
  <p:hf sldNum="0" hdr="0" ft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757067246"/>
      </p:ext>
    </p:extLst>
  </p:cSld>
  <p:clrMapOvr>
    <a:masterClrMapping/>
  </p:clrMapOvr>
  <p:hf sldNum="0" hdr="0" ft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696931058"/>
      </p:ext>
    </p:extLst>
  </p:cSld>
  <p:clrMapOvr>
    <a:masterClrMapping/>
  </p:clrMapOvr>
  <p:hf sldNum="0" hdr="0" ft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675892323"/>
      </p:ext>
    </p:extLst>
  </p:cSld>
  <p:clrMapOvr>
    <a:masterClrMapping/>
  </p:clrMapOvr>
  <p:hf sldNum="0" hdr="0" ft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3/1/2026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623073855"/>
      </p:ext>
    </p:extLst>
  </p:cSld>
  <p:clrMapOvr>
    <a:masterClrMapping/>
  </p:clrMapOvr>
  <p:hf sldNum="0" hdr="0" ft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1642354"/>
      </p:ext>
    </p:extLst>
  </p:cSld>
  <p:clrMapOvr>
    <a:masterClrMapping/>
  </p:clrMapOvr>
  <p:hf sldNum="0" hdr="0" ft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3/1/2026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0983874"/>
      </p:ext>
    </p:extLst>
  </p:cSld>
  <p:clrMapOvr>
    <a:masterClrMapping/>
  </p:clrMapOvr>
  <p:hf sldNum="0" hdr="0" ftr="0"/>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3/1/2026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186729462"/>
      </p:ext>
    </p:extLst>
  </p:cSld>
  <p:clrMapOvr>
    <a:masterClrMapping/>
  </p:clrMapOvr>
  <p:hf sldNum="0" hdr="0" ftr="0"/>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3/1/2026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287932528"/>
      </p:ext>
    </p:extLst>
  </p:cSld>
  <p:clrMapOvr>
    <a:masterClrMapping/>
  </p:clrMapOvr>
  <p:hf sldNum="0" hdr="0" ftr="0"/>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3/1/2026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9867172"/>
      </p:ext>
    </p:extLst>
  </p:cSld>
  <p:clrMapOvr>
    <a:masterClrMapping/>
  </p:clrMapOvr>
  <p:hf sldNum="0" hdr="0" ftr="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Smart Hiring Made Simple​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3/1/2026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247530678"/>
      </p:ext>
    </p:extLst>
  </p:cSld>
  <p:clrMapOvr>
    <a:masterClrMapping/>
  </p:clrMapOvr>
  <p:hf sldNum="0" hdr="0" ftr="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0982593"/>
      </p:ext>
    </p:extLst>
  </p:cSld>
  <p:clrMapOvr>
    <a:masterClrMapping/>
  </p:clrMapOvr>
  <p:hf sldNum="0" hdr="0" ftr="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8203002"/>
      </p:ext>
    </p:extLst>
  </p:cSld>
  <p:clrMapOvr>
    <a:masterClrMapping/>
  </p:clrMapOvr>
  <p:hf sldNum="0" hdr="0" ftr="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Smart Hiring Made Simple​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3/1/2026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989359972"/>
      </p:ext>
    </p:extLst>
  </p:cSld>
  <p:clrMap bg1="dk1" tx1="lt1" bg2="dk2" tx2="lt2" accent1="accent1" accent2="accent2" accent3="accent3" accent4="accent4" accent5="accent5" accent6="accent6" hlink="hlink" folHlink="folHlink"/>
  <p:sldLayoutIdLst>
    <p:sldLayoutId id="2147483656" r:id="rId1"/>
    <p:sldLayoutId id="2147483652" r:id="rId2"/>
    <p:sldLayoutId id="2147483733" r:id="rId3"/>
    <p:sldLayoutId id="2147483657" r:id="rId4"/>
    <p:sldLayoutId id="2147483744" r:id="rId5"/>
    <p:sldLayoutId id="2147483658" r:id="rId6"/>
    <p:sldLayoutId id="2147483732" r:id="rId7"/>
    <p:sldLayoutId id="2147483741" r:id="rId8"/>
    <p:sldLayoutId id="2147483760" r:id="rId9"/>
    <p:sldLayoutId id="2147483745" r:id="rId10"/>
    <p:sldLayoutId id="2147483654" r:id="rId11"/>
    <p:sldLayoutId id="2147483759" r:id="rId12"/>
    <p:sldLayoutId id="2147483707" r:id="rId13"/>
    <p:sldLayoutId id="2147483659" r:id="rId14"/>
    <p:sldLayoutId id="2147483764" r:id="rId15"/>
    <p:sldLayoutId id="2147483660" r:id="rId16"/>
    <p:sldLayoutId id="2147483765" r:id="rId17"/>
    <p:sldLayoutId id="2147483661" r:id="rId18"/>
    <p:sldLayoutId id="2147483662" r:id="rId19"/>
    <p:sldLayoutId id="2147483742" r:id="rId20"/>
    <p:sldLayoutId id="2147483746" r:id="rId21"/>
    <p:sldLayoutId id="2147483664" r:id="rId22"/>
    <p:sldLayoutId id="2147483663" r:id="rId23"/>
    <p:sldLayoutId id="2147483743" r:id="rId24"/>
    <p:sldLayoutId id="2147483666" r:id="rId25"/>
    <p:sldLayoutId id="2147483769" r:id="rId26"/>
    <p:sldLayoutId id="2147483676" r:id="rId27"/>
    <p:sldLayoutId id="2147483758" r:id="rId28"/>
    <p:sldLayoutId id="2147483680" r:id="rId29"/>
    <p:sldLayoutId id="2147483734" r:id="rId30"/>
    <p:sldLayoutId id="2147483671" r:id="rId31"/>
    <p:sldLayoutId id="2147483751" r:id="rId32"/>
    <p:sldLayoutId id="2147483675" r:id="rId33"/>
    <p:sldLayoutId id="2147483703" r:id="rId34"/>
    <p:sldLayoutId id="2147483752" r:id="rId35"/>
    <p:sldLayoutId id="2147483737" r:id="rId36"/>
    <p:sldLayoutId id="2147483753" r:id="rId37"/>
    <p:sldLayoutId id="2147483674" r:id="rId38"/>
    <p:sldLayoutId id="2147483702" r:id="rId39"/>
    <p:sldLayoutId id="2147483670" r:id="rId40"/>
    <p:sldLayoutId id="2147483735" r:id="rId41"/>
    <p:sldLayoutId id="2147483669" r:id="rId42"/>
    <p:sldLayoutId id="2147483682" r:id="rId43"/>
    <p:sldLayoutId id="2147483719" r:id="rId44"/>
    <p:sldLayoutId id="2147483686" r:id="rId45"/>
    <p:sldLayoutId id="2147483720" r:id="rId46"/>
    <p:sldLayoutId id="2147483768" r:id="rId47"/>
    <p:sldLayoutId id="2147483710" r:id="rId48"/>
    <p:sldLayoutId id="2147483729" r:id="rId49"/>
    <p:sldLayoutId id="2147483730" r:id="rId50"/>
    <p:sldLayoutId id="2147483713" r:id="rId51"/>
    <p:sldLayoutId id="2147483693" r:id="rId52"/>
    <p:sldLayoutId id="2147483690" r:id="rId53"/>
    <p:sldLayoutId id="2147483726" r:id="rId54"/>
    <p:sldLayoutId id="2147483691" r:id="rId55"/>
    <p:sldLayoutId id="2147483694" r:id="rId56"/>
    <p:sldLayoutId id="2147483695" r:id="rId57"/>
    <p:sldLayoutId id="2147483696" r:id="rId58"/>
    <p:sldLayoutId id="2147483697" r:id="rId59"/>
    <p:sldLayoutId id="2147483698" r:id="rId60"/>
    <p:sldLayoutId id="2147483699" r:id="rId61"/>
    <p:sldLayoutId id="2147483700" r:id="rId62"/>
    <p:sldLayoutId id="2147483701" r:id="rId63"/>
  </p:sldLayoutIdLst>
  <p:hf sldNum="0" hdr="0" ft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recruitment-screening-agent.vercel.ap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7EA4D2C-4D5C-AC28-D8CC-859AFF9DBC48}"/>
              </a:ext>
            </a:extLst>
          </p:cNvPr>
          <p:cNvSpPr>
            <a:spLocks noGrp="1"/>
          </p:cNvSpPr>
          <p:nvPr>
            <p:ph type="ctrTitle"/>
          </p:nvPr>
        </p:nvSpPr>
        <p:spPr>
          <a:xfrm>
            <a:off x="3505257" y="852540"/>
            <a:ext cx="7806845" cy="2762187"/>
          </a:xfrm>
        </p:spPr>
        <p:txBody>
          <a:bodyPr/>
          <a:lstStyle/>
          <a:p>
            <a:r>
              <a:rPr lang="en-US"/>
              <a:t>Presentation </a:t>
            </a:r>
            <a:br>
              <a:rPr lang="en-US"/>
            </a:br>
            <a:r>
              <a:rPr lang="en-US">
                <a:solidFill>
                  <a:srgbClr val="FFFFFF"/>
                </a:solidFill>
                <a:latin typeface="Neue Haas Grotesk Text Pro"/>
              </a:rPr>
              <a:t>Candidate Screening Agent</a:t>
            </a:r>
          </a:p>
        </p:txBody>
      </p:sp>
      <p:sp>
        <p:nvSpPr>
          <p:cNvPr id="10" name="TextBox 9">
            <a:extLst>
              <a:ext uri="{FF2B5EF4-FFF2-40B4-BE49-F238E27FC236}">
                <a16:creationId xmlns:a16="http://schemas.microsoft.com/office/drawing/2014/main" id="{8F224582-569D-3CF7-1E58-AC0F061318A9}"/>
              </a:ext>
            </a:extLst>
          </p:cNvPr>
          <p:cNvSpPr txBox="1"/>
          <p:nvPr/>
        </p:nvSpPr>
        <p:spPr>
          <a:xfrm>
            <a:off x="3504326" y="3610684"/>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Transforming Recruitment with AI-Powered Screening</a:t>
            </a:r>
          </a:p>
          <a:p>
            <a:pPr algn="ctr"/>
            <a:endParaRPr lang="en-US"/>
          </a:p>
        </p:txBody>
      </p:sp>
      <p:sp>
        <p:nvSpPr>
          <p:cNvPr id="3" name="TextBox 2">
            <a:extLst>
              <a:ext uri="{FF2B5EF4-FFF2-40B4-BE49-F238E27FC236}">
                <a16:creationId xmlns:a16="http://schemas.microsoft.com/office/drawing/2014/main" id="{F597B8BB-D345-6D4E-8B39-2989F0CF7EC3}"/>
              </a:ext>
            </a:extLst>
          </p:cNvPr>
          <p:cNvSpPr txBox="1"/>
          <p:nvPr/>
        </p:nvSpPr>
        <p:spPr>
          <a:xfrm>
            <a:off x="3504325" y="4063765"/>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Developed by Using Antigravity + KIMI Code</a:t>
            </a:r>
          </a:p>
        </p:txBody>
      </p:sp>
    </p:spTree>
    <p:extLst>
      <p:ext uri="{BB962C8B-B14F-4D97-AF65-F5344CB8AC3E}">
        <p14:creationId xmlns:p14="http://schemas.microsoft.com/office/powerpoint/2010/main" val="1489048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8A9E-2B45-DAEF-A5CA-49AE88C90DFB}"/>
              </a:ext>
            </a:extLst>
          </p:cNvPr>
          <p:cNvSpPr>
            <a:spLocks noGrp="1"/>
          </p:cNvSpPr>
          <p:nvPr>
            <p:ph type="title"/>
          </p:nvPr>
        </p:nvSpPr>
        <p:spPr/>
        <p:txBody>
          <a:bodyPr>
            <a:normAutofit/>
          </a:bodyPr>
          <a:lstStyle/>
          <a:p>
            <a:r>
              <a:rPr lang="en-US" sz="4000"/>
              <a:t>Process</a:t>
            </a:r>
          </a:p>
        </p:txBody>
      </p:sp>
      <p:sp>
        <p:nvSpPr>
          <p:cNvPr id="4" name="Date Placeholder 3">
            <a:extLst>
              <a:ext uri="{FF2B5EF4-FFF2-40B4-BE49-F238E27FC236}">
                <a16:creationId xmlns:a16="http://schemas.microsoft.com/office/drawing/2014/main" id="{75902153-C1C8-06C4-1D0F-7782E3ED9A23}"/>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4C878656-E944-C085-9ED9-B1DDDBCD70EF}"/>
              </a:ext>
            </a:extLst>
          </p:cNvPr>
          <p:cNvSpPr>
            <a:spLocks noGrp="1"/>
          </p:cNvSpPr>
          <p:nvPr>
            <p:ph idx="1"/>
          </p:nvPr>
        </p:nvSpPr>
        <p:spPr>
          <a:xfrm>
            <a:off x="262404" y="1987463"/>
            <a:ext cx="11132381" cy="4305300"/>
          </a:xfrm>
        </p:spPr>
        <p:txBody>
          <a:bodyPr vert="horz" lIns="91440" tIns="45720" rIns="91440" bIns="45720" rtlCol="0" anchor="t">
            <a:normAutofit/>
          </a:bodyPr>
          <a:lstStyle/>
          <a:p>
            <a:pPr marL="285750" indent="-285750">
              <a:buChar char="•"/>
            </a:pPr>
            <a:r>
              <a:rPr lang="en-US" sz="1800" dirty="0"/>
              <a:t>HR Published The Requirement Through Different Portals, </a:t>
            </a:r>
          </a:p>
          <a:p>
            <a:pPr marL="285750" indent="-285750">
              <a:buChar char="•"/>
            </a:pPr>
            <a:r>
              <a:rPr lang="en-US" sz="1800" dirty="0"/>
              <a:t>Candidate Apply On That Requirement and Resume get received To The HR And HR Looking Into The Resume As Per The Job Description, </a:t>
            </a:r>
          </a:p>
          <a:p>
            <a:pPr marL="285750" indent="-285750">
              <a:buChar char="•"/>
            </a:pPr>
            <a:r>
              <a:rPr lang="en-US" sz="1800" dirty="0"/>
              <a:t>If Job Description is Matched, That Resume Forward To The Next Round Or Sort Listed As Per HR / Company Criteria.</a:t>
            </a:r>
          </a:p>
          <a:p>
            <a:pPr marL="285750" indent="-285750">
              <a:buChar char="•"/>
            </a:pPr>
            <a:r>
              <a:rPr lang="en-US" sz="1800" dirty="0"/>
              <a:t>HR Will Contact Within 2 To 3 Days to Candidate Via mail, What's App And Other platform.</a:t>
            </a:r>
          </a:p>
          <a:p>
            <a:pPr marL="285750" indent="-285750">
              <a:buChar char="•"/>
            </a:pPr>
            <a:endParaRPr lang="en-US"/>
          </a:p>
          <a:p>
            <a:pPr marL="285750" indent="-285750">
              <a:buChar char="•"/>
            </a:pPr>
            <a:endParaRPr lang="en-US"/>
          </a:p>
          <a:p>
            <a:pPr marL="285750" indent="-285750">
              <a:buChar char="•"/>
            </a:pPr>
            <a:endParaRPr lang="en-US"/>
          </a:p>
        </p:txBody>
      </p:sp>
    </p:spTree>
    <p:extLst>
      <p:ext uri="{BB962C8B-B14F-4D97-AF65-F5344CB8AC3E}">
        <p14:creationId xmlns:p14="http://schemas.microsoft.com/office/powerpoint/2010/main" val="2810132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4959A-9545-79CC-3832-AE3C38188A66}"/>
              </a:ext>
            </a:extLst>
          </p:cNvPr>
          <p:cNvSpPr>
            <a:spLocks noGrp="1"/>
          </p:cNvSpPr>
          <p:nvPr>
            <p:ph type="title"/>
          </p:nvPr>
        </p:nvSpPr>
        <p:spPr/>
        <p:txBody>
          <a:bodyPr>
            <a:normAutofit/>
          </a:bodyPr>
          <a:lstStyle/>
          <a:p>
            <a:r>
              <a:rPr lang="en-US" sz="4000"/>
              <a:t>Current Problems</a:t>
            </a:r>
          </a:p>
        </p:txBody>
      </p:sp>
      <p:sp>
        <p:nvSpPr>
          <p:cNvPr id="4" name="Date Placeholder 3">
            <a:extLst>
              <a:ext uri="{FF2B5EF4-FFF2-40B4-BE49-F238E27FC236}">
                <a16:creationId xmlns:a16="http://schemas.microsoft.com/office/drawing/2014/main" id="{C05348A1-61FC-B4AE-9667-4A6FA15F1537}"/>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E423B6F7-7514-917C-4D19-92A4B960E079}"/>
              </a:ext>
            </a:extLst>
          </p:cNvPr>
          <p:cNvSpPr>
            <a:spLocks noGrp="1"/>
          </p:cNvSpPr>
          <p:nvPr>
            <p:ph idx="1"/>
          </p:nvPr>
        </p:nvSpPr>
        <p:spPr>
          <a:xfrm>
            <a:off x="429417" y="1820450"/>
            <a:ext cx="9931971" cy="4618450"/>
          </a:xfrm>
        </p:spPr>
        <p:txBody>
          <a:bodyPr vert="horz" lIns="91440" tIns="45720" rIns="91440" bIns="45720" rtlCol="0" anchor="t">
            <a:normAutofit fontScale="92500" lnSpcReduction="20000"/>
          </a:bodyPr>
          <a:lstStyle/>
          <a:p>
            <a:pPr marL="285750" indent="-285750">
              <a:buChar char="•"/>
            </a:pPr>
            <a:r>
              <a:rPr lang="en-US" sz="2200" b="1" dirty="0"/>
              <a:t>Time Consuming</a:t>
            </a:r>
          </a:p>
          <a:p>
            <a:pPr marL="514350" indent="-285750">
              <a:buFont typeface="Courier New,monospace" panose="020B0604020202020204" pitchFamily="34" charset="0"/>
              <a:buChar char="o"/>
            </a:pPr>
            <a:r>
              <a:rPr lang="en-US" sz="1900" dirty="0"/>
              <a:t>HR spends 20-30 minutes per resume review </a:t>
            </a:r>
          </a:p>
          <a:p>
            <a:pPr marL="514350" lvl="1" indent="-285750">
              <a:buFont typeface="Courier New,monospace" panose="020B0604020202020204" pitchFamily="34" charset="0"/>
              <a:buChar char="o"/>
            </a:pPr>
            <a:r>
              <a:rPr lang="en-US" sz="1900" dirty="0"/>
              <a:t>Manual skill matching is tedious – HR Matching SKILLS Manually is Tedious</a:t>
            </a:r>
          </a:p>
          <a:p>
            <a:pPr lvl="1"/>
            <a:endParaRPr lang="en-US" sz="1800"/>
          </a:p>
          <a:p>
            <a:pPr marL="285750" indent="-285750">
              <a:buFont typeface="Arial" panose="020B0604020202020204" pitchFamily="34" charset="0"/>
              <a:buChar char="•"/>
            </a:pPr>
            <a:r>
              <a:rPr lang="en-US" sz="2200" b="1" dirty="0"/>
              <a:t>Inconsistent Screening</a:t>
            </a:r>
          </a:p>
          <a:p>
            <a:pPr marL="742950" lvl="1" indent="-285750">
              <a:buFont typeface="Courier New" panose="020B0604020202020204" pitchFamily="34" charset="0"/>
              <a:buChar char="o"/>
            </a:pPr>
            <a:r>
              <a:rPr lang="en-US" sz="1900" dirty="0"/>
              <a:t>Different HRs evaluate differently - Different HR people evaluate the same candidate differently.</a:t>
            </a:r>
            <a:endParaRPr lang="en-US" sz="1900" dirty="0">
              <a:ea typeface="+mn-lt"/>
              <a:cs typeface="+mn-lt"/>
            </a:endParaRPr>
          </a:p>
          <a:p>
            <a:pPr marL="457200" lvl="1"/>
            <a:endParaRPr lang="en-US" sz="1800"/>
          </a:p>
          <a:p>
            <a:pPr marL="285750" indent="-285750">
              <a:buFont typeface="Arial" panose="020B0604020202020204" pitchFamily="34" charset="0"/>
              <a:buChar char="•"/>
            </a:pPr>
            <a:r>
              <a:rPr lang="en-US" sz="2200" b="1" dirty="0"/>
              <a:t>Poor Candidate Management</a:t>
            </a:r>
          </a:p>
          <a:p>
            <a:pPr marL="742950" lvl="1" indent="-285750">
              <a:spcBef>
                <a:spcPts val="1000"/>
              </a:spcBef>
              <a:buFont typeface="Courier New" panose="020B0604020202020204" pitchFamily="34" charset="0"/>
              <a:buChar char="o"/>
            </a:pPr>
            <a:r>
              <a:rPr lang="en-US" sz="1900" dirty="0"/>
              <a:t>Resumes lost in email threads – Resumes get lost in email threads. There's no visibility of where each candidate stands in the pipeline.</a:t>
            </a:r>
          </a:p>
          <a:p>
            <a:pPr marL="742950" lvl="1" indent="-285750">
              <a:spcBef>
                <a:spcPts val="1000"/>
              </a:spcBef>
              <a:buFont typeface="Courier New" panose="020B0604020202020204" pitchFamily="34" charset="0"/>
              <a:buChar char="o"/>
            </a:pPr>
            <a:r>
              <a:rPr lang="en-US" sz="1900" dirty="0"/>
              <a:t>Difficult to track interview feedback</a:t>
            </a:r>
          </a:p>
          <a:p>
            <a:pPr marL="742950" lvl="1" indent="-285750">
              <a:buFont typeface="Courier New" panose="020B0604020202020204" pitchFamily="34" charset="0"/>
              <a:buChar char="o"/>
            </a:pPr>
            <a:endParaRPr lang="en-US" sz="1800"/>
          </a:p>
          <a:p>
            <a:pPr marL="742950" lvl="1" indent="-285750">
              <a:buFont typeface="Courier New" panose="020B0604020202020204" pitchFamily="34" charset="0"/>
              <a:buChar char="o"/>
            </a:pPr>
            <a:endParaRPr lang="en-US" sz="1800"/>
          </a:p>
          <a:p>
            <a:pPr marL="285750" indent="-285750">
              <a:buFont typeface="Arial" panose="020B0604020202020204" pitchFamily="34" charset="0"/>
              <a:buChar char="•"/>
            </a:pPr>
            <a:endParaRPr lang="en-US" sz="1800"/>
          </a:p>
          <a:p>
            <a:pPr lvl="1"/>
            <a:endParaRPr lang="en-US"/>
          </a:p>
          <a:p>
            <a:pPr lvl="1"/>
            <a:endParaRPr lang="en-US"/>
          </a:p>
        </p:txBody>
      </p:sp>
    </p:spTree>
    <p:extLst>
      <p:ext uri="{BB962C8B-B14F-4D97-AF65-F5344CB8AC3E}">
        <p14:creationId xmlns:p14="http://schemas.microsoft.com/office/powerpoint/2010/main" val="121712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148C7-90C0-638F-7338-773B37F3A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BFC64-9D4F-490C-6B72-BDA212D7A382}"/>
              </a:ext>
            </a:extLst>
          </p:cNvPr>
          <p:cNvSpPr>
            <a:spLocks noGrp="1"/>
          </p:cNvSpPr>
          <p:nvPr>
            <p:ph type="title"/>
          </p:nvPr>
        </p:nvSpPr>
        <p:spPr/>
        <p:txBody>
          <a:bodyPr>
            <a:normAutofit/>
          </a:bodyPr>
          <a:lstStyle/>
          <a:p>
            <a:r>
              <a:rPr lang="en-US" sz="4000"/>
              <a:t>Current Problems</a:t>
            </a:r>
          </a:p>
        </p:txBody>
      </p:sp>
      <p:sp>
        <p:nvSpPr>
          <p:cNvPr id="4" name="Date Placeholder 3">
            <a:extLst>
              <a:ext uri="{FF2B5EF4-FFF2-40B4-BE49-F238E27FC236}">
                <a16:creationId xmlns:a16="http://schemas.microsoft.com/office/drawing/2014/main" id="{BFBD83A6-2FF5-3883-DD0C-8CB7603F0B82}"/>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2505DA37-FD1E-4CD8-995A-E973345259A9}"/>
              </a:ext>
            </a:extLst>
          </p:cNvPr>
          <p:cNvSpPr>
            <a:spLocks noGrp="1"/>
          </p:cNvSpPr>
          <p:nvPr>
            <p:ph idx="1"/>
          </p:nvPr>
        </p:nvSpPr>
        <p:spPr/>
        <p:txBody>
          <a:bodyPr vert="horz" lIns="91440" tIns="45720" rIns="91440" bIns="45720" rtlCol="0" anchor="t">
            <a:normAutofit/>
          </a:bodyPr>
          <a:lstStyle/>
          <a:p>
            <a:pPr marL="285750" indent="-285750">
              <a:buFont typeface="Arial,Sans-Serif" panose="020B0604020202020204" pitchFamily="34" charset="0"/>
              <a:buChar char="•"/>
            </a:pPr>
            <a:r>
              <a:rPr lang="en-US" sz="2000" b="1" dirty="0"/>
              <a:t>Communication Gaps</a:t>
            </a:r>
          </a:p>
          <a:p>
            <a:pPr marL="800100" lvl="1" indent="-342900">
              <a:buFont typeface="Courier New,monospace" panose="020B0604020202020204" pitchFamily="34" charset="0"/>
              <a:buChar char="o"/>
            </a:pPr>
            <a:r>
              <a:rPr lang="en-US" sz="1800" dirty="0"/>
              <a:t>Hard to share feedback with team - HR has to switch between multiple apps just to contact candidates. Information is scattered everywhere.</a:t>
            </a:r>
          </a:p>
          <a:p>
            <a:pPr marL="514350" lvl="1" indent="-285750">
              <a:buFont typeface="Courier New,monospace" panose="020B0604020202020204" pitchFamily="34" charset="0"/>
              <a:buChar char="o"/>
            </a:pPr>
            <a:endParaRPr lang="en-US" sz="1800" dirty="0"/>
          </a:p>
          <a:p>
            <a:pPr marL="285750" indent="-285750">
              <a:buFont typeface="Arial" panose="020B0604020202020204" pitchFamily="34" charset="0"/>
              <a:buChar char="•"/>
            </a:pPr>
            <a:endParaRPr lang="en-US" sz="2400" b="1"/>
          </a:p>
        </p:txBody>
      </p:sp>
    </p:spTree>
    <p:extLst>
      <p:ext uri="{BB962C8B-B14F-4D97-AF65-F5344CB8AC3E}">
        <p14:creationId xmlns:p14="http://schemas.microsoft.com/office/powerpoint/2010/main" val="220309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54D44-2327-07D7-C0CC-FA66EA50FBE4}"/>
              </a:ext>
            </a:extLst>
          </p:cNvPr>
          <p:cNvSpPr>
            <a:spLocks noGrp="1"/>
          </p:cNvSpPr>
          <p:nvPr>
            <p:ph type="title"/>
          </p:nvPr>
        </p:nvSpPr>
        <p:spPr>
          <a:xfrm>
            <a:off x="431229" y="842113"/>
            <a:ext cx="9931971" cy="563043"/>
          </a:xfrm>
        </p:spPr>
        <p:txBody>
          <a:bodyPr vert="horz" lIns="91440" tIns="45720" rIns="91440" bIns="45720" rtlCol="0" anchor="t">
            <a:noAutofit/>
          </a:bodyPr>
          <a:lstStyle/>
          <a:p>
            <a:r>
              <a:rPr lang="en-US" sz="4000" dirty="0"/>
              <a:t>Example Scenario</a:t>
            </a:r>
          </a:p>
          <a:p>
            <a:endParaRPr lang="en-US"/>
          </a:p>
        </p:txBody>
      </p:sp>
      <p:sp>
        <p:nvSpPr>
          <p:cNvPr id="4" name="Date Placeholder 3">
            <a:extLst>
              <a:ext uri="{FF2B5EF4-FFF2-40B4-BE49-F238E27FC236}">
                <a16:creationId xmlns:a16="http://schemas.microsoft.com/office/drawing/2014/main" id="{59C54C34-0A0C-3890-1CE1-6FD25F132E48}"/>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DB8A94E4-E83C-0E7A-47EA-8E711F9A1EEF}"/>
              </a:ext>
            </a:extLst>
          </p:cNvPr>
          <p:cNvSpPr>
            <a:spLocks noGrp="1"/>
          </p:cNvSpPr>
          <p:nvPr>
            <p:ph idx="1"/>
          </p:nvPr>
        </p:nvSpPr>
        <p:spPr>
          <a:xfrm>
            <a:off x="429417" y="1402150"/>
            <a:ext cx="11150495" cy="5036750"/>
          </a:xfrm>
        </p:spPr>
        <p:txBody>
          <a:bodyPr vert="horz" lIns="91440" tIns="45720" rIns="91440" bIns="45720" rtlCol="0" anchor="t">
            <a:normAutofit/>
          </a:bodyPr>
          <a:lstStyle/>
          <a:p>
            <a:pPr marL="514350" lvl="1" indent="-285750">
              <a:buFont typeface="Arial" panose="020B0604020202020204" pitchFamily="34" charset="0"/>
              <a:buChar char="•"/>
            </a:pPr>
            <a:r>
              <a:rPr lang="en-US" sz="2000" b="1" dirty="0"/>
              <a:t>In Morning:</a:t>
            </a:r>
            <a:endParaRPr lang="en-US" sz="2000" dirty="0"/>
          </a:p>
          <a:p>
            <a:pPr marL="514350" indent="-285750">
              <a:buFont typeface="Arial" panose="020B0604020202020204" pitchFamily="34" charset="0"/>
              <a:buChar char="•"/>
            </a:pPr>
            <a:r>
              <a:rPr lang="en-US" sz="1800" dirty="0"/>
              <a:t>HR receives 30+ resumes for a AI Agent Developer position. She opens the first PDF and starts reading manually. She tries to match skills with the job description. It takes her 15 minutes just to decide suitable or not?.'</a:t>
            </a:r>
          </a:p>
          <a:p>
            <a:pPr marL="514350" lvl="1" indent="-285750">
              <a:buChar char="•"/>
            </a:pPr>
            <a:endParaRPr lang="en-US"/>
          </a:p>
          <a:p>
            <a:pPr marL="514350" lvl="1" indent="-285750">
              <a:buChar char="•"/>
            </a:pPr>
            <a:r>
              <a:rPr lang="en-US" sz="2000" b="1" dirty="0"/>
              <a:t>In Afternoon:</a:t>
            </a:r>
          </a:p>
          <a:p>
            <a:pPr marL="514350" lvl="1" indent="-285750">
              <a:buChar char="•"/>
            </a:pPr>
            <a:r>
              <a:rPr lang="en-US" sz="1800" dirty="0"/>
              <a:t>She can't remember which resumes she already shortlisted. She emails a candidate for an interview - but uses the wrong email thread.</a:t>
            </a:r>
          </a:p>
          <a:p>
            <a:pPr marL="514350" lvl="1" indent="-285750">
              <a:buChar char="•"/>
            </a:pPr>
            <a:endParaRPr lang="en-US" sz="2000" dirty="0"/>
          </a:p>
          <a:p>
            <a:pPr marL="514350" indent="-285750">
              <a:lnSpc>
                <a:spcPct val="100000"/>
              </a:lnSpc>
              <a:spcBef>
                <a:spcPts val="0"/>
              </a:spcBef>
              <a:buChar char="•"/>
            </a:pPr>
            <a:r>
              <a:rPr lang="en-US" sz="2000" b="1" dirty="0"/>
              <a:t>Result:</a:t>
            </a:r>
            <a:endParaRPr lang="en-US" sz="2000" dirty="0"/>
          </a:p>
          <a:p>
            <a:pPr marL="514350" lvl="1" indent="-285750">
              <a:lnSpc>
                <a:spcPct val="100000"/>
              </a:lnSpc>
              <a:spcBef>
                <a:spcPts val="0"/>
              </a:spcBef>
              <a:buFont typeface="Arial,Sans-Serif" panose="020B0604020202020204" pitchFamily="34" charset="0"/>
              <a:buChar char="•"/>
            </a:pPr>
            <a:r>
              <a:rPr lang="en-US" sz="1800" dirty="0">
                <a:latin typeface="Calibri"/>
                <a:ea typeface="Calibri"/>
                <a:cs typeface="Calibri"/>
              </a:rPr>
              <a:t>Candidates got lost in the process, The wrong candidate got shortlisted.</a:t>
            </a:r>
          </a:p>
          <a:p>
            <a:pPr marL="514350" lvl="1" indent="-285750">
              <a:lnSpc>
                <a:spcPct val="100000"/>
              </a:lnSpc>
              <a:spcBef>
                <a:spcPts val="0"/>
              </a:spcBef>
              <a:buFont typeface="Arial,Sans-Serif" panose="020B0604020202020204" pitchFamily="34" charset="0"/>
              <a:buChar char="•"/>
            </a:pPr>
            <a:r>
              <a:rPr lang="en-US" sz="1800" dirty="0">
                <a:latin typeface="Calibri"/>
                <a:ea typeface="Calibri"/>
                <a:cs typeface="Calibri"/>
              </a:rPr>
              <a:t>she wasted time.</a:t>
            </a:r>
          </a:p>
          <a:p>
            <a:pPr marL="285750" indent="-285750">
              <a:lnSpc>
                <a:spcPct val="100000"/>
              </a:lnSpc>
              <a:spcBef>
                <a:spcPts val="0"/>
              </a:spcBef>
              <a:buFont typeface="Arial" panose="020B0604020202020204" pitchFamily="34" charset="0"/>
              <a:buChar char="•"/>
            </a:pPr>
            <a:endParaRPr lang="en-US" sz="1800" dirty="0">
              <a:latin typeface="Calibri"/>
              <a:ea typeface="Calibri"/>
              <a:cs typeface="Calibri"/>
            </a:endParaRPr>
          </a:p>
          <a:p>
            <a:pPr marL="514350" lvl="1" indent="-285750">
              <a:buFont typeface="Arial" panose="020B0604020202020204" pitchFamily="34" charset="0"/>
              <a:buChar char="•"/>
            </a:pPr>
            <a:endParaRPr lang="en-US" dirty="0"/>
          </a:p>
          <a:p>
            <a:pPr marL="514350" lvl="1" indent="-285750">
              <a:buFont typeface="Arial" panose="020B0604020202020204" pitchFamily="34" charset="0"/>
              <a:buChar char="•"/>
            </a:pPr>
            <a:endParaRPr lang="en-US"/>
          </a:p>
        </p:txBody>
      </p:sp>
    </p:spTree>
    <p:extLst>
      <p:ext uri="{BB962C8B-B14F-4D97-AF65-F5344CB8AC3E}">
        <p14:creationId xmlns:p14="http://schemas.microsoft.com/office/powerpoint/2010/main" val="4006462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11482-182D-9A5A-B64A-36C23262454B}"/>
              </a:ext>
            </a:extLst>
          </p:cNvPr>
          <p:cNvSpPr>
            <a:spLocks noGrp="1"/>
          </p:cNvSpPr>
          <p:nvPr>
            <p:ph type="title"/>
          </p:nvPr>
        </p:nvSpPr>
        <p:spPr>
          <a:xfrm>
            <a:off x="431088" y="959051"/>
            <a:ext cx="9942409" cy="876193"/>
          </a:xfrm>
        </p:spPr>
        <p:txBody>
          <a:bodyPr vert="horz" lIns="91440" tIns="45720" rIns="91440" bIns="45720" rtlCol="0" anchor="t">
            <a:noAutofit/>
          </a:bodyPr>
          <a:lstStyle/>
          <a:p>
            <a:r>
              <a:rPr lang="en-US" sz="4000" dirty="0"/>
              <a:t>Purpose of This System - Why Built This Solution?</a:t>
            </a:r>
            <a:endParaRPr lang="en-US" sz="4000"/>
          </a:p>
          <a:p>
            <a:endParaRPr lang="en-US"/>
          </a:p>
        </p:txBody>
      </p:sp>
      <p:sp>
        <p:nvSpPr>
          <p:cNvPr id="4" name="Date Placeholder 3">
            <a:extLst>
              <a:ext uri="{FF2B5EF4-FFF2-40B4-BE49-F238E27FC236}">
                <a16:creationId xmlns:a16="http://schemas.microsoft.com/office/drawing/2014/main" id="{2E15B1DE-3009-07D7-2340-7BBB5A804C4A}"/>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407C5C38-31FC-5BB5-7876-BC244F4A5894}"/>
              </a:ext>
            </a:extLst>
          </p:cNvPr>
          <p:cNvSpPr>
            <a:spLocks noGrp="1"/>
          </p:cNvSpPr>
          <p:nvPr>
            <p:ph idx="1"/>
          </p:nvPr>
        </p:nvSpPr>
        <p:spPr>
          <a:xfrm>
            <a:off x="429417" y="2154477"/>
            <a:ext cx="11414217" cy="4701957"/>
          </a:xfrm>
        </p:spPr>
        <p:txBody>
          <a:bodyPr vert="horz" lIns="91440" tIns="45720" rIns="91440" bIns="45720" rtlCol="0" anchor="t">
            <a:normAutofit/>
          </a:bodyPr>
          <a:lstStyle/>
          <a:p>
            <a:pPr marL="285750" indent="-285750">
              <a:buChar char="•"/>
            </a:pPr>
            <a:r>
              <a:rPr lang="en-US" sz="1700" dirty="0"/>
              <a:t>To automate and make it easy recruitment process using AI, ensuring fair, fast, and trackable candidate Records.</a:t>
            </a:r>
          </a:p>
          <a:p>
            <a:pPr marL="285750" indent="-285750">
              <a:buChar char="•"/>
            </a:pPr>
            <a:r>
              <a:rPr lang="en-US" sz="2000" b="1" dirty="0"/>
              <a:t>Key Goals:</a:t>
            </a:r>
          </a:p>
          <a:p>
            <a:pPr marL="742950" indent="-285750">
              <a:buFont typeface="Courier New,monospace" panose="020B0604020202020204" pitchFamily="34" charset="0"/>
              <a:buChar char="o"/>
            </a:pPr>
            <a:r>
              <a:rPr lang="en-US" sz="1800" b="1" dirty="0"/>
              <a:t>Save Time</a:t>
            </a:r>
            <a:r>
              <a:rPr lang="en-US" sz="1800" dirty="0"/>
              <a:t> - We can evaluate a candidate in just 2 seconds, compared to 20 minutes manually.</a:t>
            </a:r>
          </a:p>
          <a:p>
            <a:pPr marL="285750" indent="-285750">
              <a:buFont typeface="Arial" panose="020B0604020202020204" pitchFamily="34" charset="0"/>
              <a:buChar char="•"/>
            </a:pPr>
            <a:r>
              <a:rPr lang="en-US" sz="2000" b="1" dirty="0"/>
              <a:t>Better Organization</a:t>
            </a:r>
            <a:endParaRPr lang="en-US" sz="2000" dirty="0"/>
          </a:p>
          <a:p>
            <a:pPr marL="742950" lvl="1" indent="-285750">
              <a:buFont typeface="Courier New,monospace" panose="020B0604020202020204" pitchFamily="34" charset="0"/>
              <a:buChar char="o"/>
            </a:pPr>
            <a:r>
              <a:rPr lang="en-US" sz="1800" dirty="0"/>
              <a:t>We have a visual kanban board for Candidate management. All candidate information is in one place.</a:t>
            </a:r>
          </a:p>
          <a:p>
            <a:pPr marL="285750" indent="-285750">
              <a:buFont typeface="Arial" panose="020B0604020202020204" pitchFamily="34" charset="0"/>
              <a:buChar char="•"/>
            </a:pPr>
            <a:r>
              <a:rPr lang="en-US" sz="2000" b="1" dirty="0"/>
              <a:t>Easy Communication</a:t>
            </a:r>
          </a:p>
          <a:p>
            <a:pPr marL="742950" lvl="1" indent="-285750">
              <a:buFont typeface="Courier New" panose="020B0604020202020204" pitchFamily="34" charset="0"/>
              <a:buChar char="o"/>
            </a:pPr>
            <a:r>
              <a:rPr lang="en-US" sz="1800" dirty="0"/>
              <a:t>One-click WhatsApp and Email. Simple.</a:t>
            </a:r>
          </a:p>
          <a:p>
            <a:pPr marL="514350" lvl="1" indent="-285750">
              <a:buFont typeface="Courier New" panose="020B0604020202020204" pitchFamily="34" charset="0"/>
              <a:buChar char="o"/>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742950" indent="-285750">
              <a:buFont typeface="Courier New" panose="020B0604020202020204" pitchFamily="34" charset="0"/>
              <a:buChar char="o"/>
            </a:pPr>
            <a:endParaRPr lang="en-US"/>
          </a:p>
          <a:p>
            <a:pPr marL="742950" lvl="1" indent="-285750">
              <a:buFont typeface="Courier New" panose="020B0604020202020204" pitchFamily="34" charset="0"/>
              <a:buChar char="o"/>
            </a:pPr>
            <a:endParaRPr lang="en-US"/>
          </a:p>
          <a:p>
            <a:pPr marL="514350" lvl="1" indent="-285750">
              <a:buFont typeface="Courier New" panose="020B0604020202020204" pitchFamily="34" charset="0"/>
              <a:buChar char="o"/>
            </a:pPr>
            <a:endParaRPr lang="en-US"/>
          </a:p>
        </p:txBody>
      </p:sp>
    </p:spTree>
    <p:extLst>
      <p:ext uri="{BB962C8B-B14F-4D97-AF65-F5344CB8AC3E}">
        <p14:creationId xmlns:p14="http://schemas.microsoft.com/office/powerpoint/2010/main" val="1826610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4C549-18B1-206F-161C-8307DDCE1821}"/>
              </a:ext>
            </a:extLst>
          </p:cNvPr>
          <p:cNvSpPr>
            <a:spLocks noGrp="1"/>
          </p:cNvSpPr>
          <p:nvPr>
            <p:ph type="title"/>
          </p:nvPr>
        </p:nvSpPr>
        <p:spPr/>
        <p:txBody>
          <a:bodyPr>
            <a:normAutofit/>
          </a:bodyPr>
          <a:lstStyle/>
          <a:p>
            <a:r>
              <a:rPr lang="en-US" sz="4000" dirty="0"/>
              <a:t>Screening Criteria</a:t>
            </a:r>
          </a:p>
        </p:txBody>
      </p:sp>
      <p:sp>
        <p:nvSpPr>
          <p:cNvPr id="4" name="Date Placeholder 3">
            <a:extLst>
              <a:ext uri="{FF2B5EF4-FFF2-40B4-BE49-F238E27FC236}">
                <a16:creationId xmlns:a16="http://schemas.microsoft.com/office/drawing/2014/main" id="{E724F9C2-4EAE-18A8-92F4-02B8E23D916F}"/>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C94C2DFC-8058-3A9C-29D1-C520D84861F6}"/>
              </a:ext>
            </a:extLst>
          </p:cNvPr>
          <p:cNvSpPr>
            <a:spLocks noGrp="1"/>
          </p:cNvSpPr>
          <p:nvPr>
            <p:ph idx="1"/>
          </p:nvPr>
        </p:nvSpPr>
        <p:spPr/>
        <p:txBody>
          <a:bodyPr vert="horz" lIns="91440" tIns="45720" rIns="91440" bIns="45720" rtlCol="0" anchor="t">
            <a:normAutofit/>
          </a:bodyPr>
          <a:lstStyle/>
          <a:p>
            <a:r>
              <a:rPr lang="en-US" sz="2000" b="1" dirty="0"/>
              <a:t>Decision Criteria:</a:t>
            </a:r>
          </a:p>
          <a:p>
            <a:r>
              <a:rPr lang="en-US" sz="1800" dirty="0"/>
              <a:t>A candidate is </a:t>
            </a:r>
            <a:r>
              <a:rPr lang="en-US" sz="1800" b="1" dirty="0"/>
              <a:t>REJECTED</a:t>
            </a:r>
            <a:r>
              <a:rPr lang="en-US" sz="1800" dirty="0"/>
              <a:t> if: Matched Skills are 3 or less OR Overall Score is less than 60,</a:t>
            </a:r>
          </a:p>
          <a:p>
            <a:r>
              <a:rPr lang="en-US" sz="1800" dirty="0">
                <a:ea typeface="+mn-lt"/>
                <a:cs typeface="+mn-lt"/>
              </a:rPr>
              <a:t>A candidate is </a:t>
            </a:r>
            <a:r>
              <a:rPr lang="en-US" sz="1800" b="1" dirty="0">
                <a:ea typeface="+mn-lt"/>
                <a:cs typeface="+mn-lt"/>
              </a:rPr>
              <a:t>SHORTLISTED</a:t>
            </a:r>
            <a:r>
              <a:rPr lang="en-US" sz="1800" dirty="0">
                <a:ea typeface="+mn-lt"/>
                <a:cs typeface="+mn-lt"/>
              </a:rPr>
              <a:t> if: Matched Skills are MORE than 3, AND Overall Score is 60 or above</a:t>
            </a:r>
            <a:endParaRPr lang="en-US" sz="1800" dirty="0"/>
          </a:p>
          <a:p>
            <a:endParaRPr lang="en-US" dirty="0"/>
          </a:p>
          <a:p>
            <a:r>
              <a:rPr lang="en-US" dirty="0"/>
              <a:t>Site Link: </a:t>
            </a:r>
          </a:p>
          <a:p>
            <a:r>
              <a:rPr lang="en-US" dirty="0">
                <a:ea typeface="+mn-lt"/>
                <a:cs typeface="+mn-lt"/>
                <a:hlinkClick r:id="rId2"/>
              </a:rPr>
              <a:t>AI Recruitment Screening Agent</a:t>
            </a:r>
          </a:p>
          <a:p>
            <a:endParaRPr lang="en-US" dirty="0">
              <a:ea typeface="+mn-lt"/>
              <a:cs typeface="+mn-lt"/>
            </a:endParaRPr>
          </a:p>
          <a:p>
            <a:endParaRPr lang="en-US" dirty="0"/>
          </a:p>
          <a:p>
            <a:endParaRPr lang="en-US" dirty="0">
              <a:ea typeface="+mn-lt"/>
              <a:cs typeface="+mn-lt"/>
            </a:endParaRPr>
          </a:p>
          <a:p>
            <a:endParaRPr lang="en-US">
              <a:ea typeface="+mn-lt"/>
              <a:cs typeface="+mn-lt"/>
            </a:endParaRPr>
          </a:p>
        </p:txBody>
      </p:sp>
    </p:spTree>
    <p:extLst>
      <p:ext uri="{BB962C8B-B14F-4D97-AF65-F5344CB8AC3E}">
        <p14:creationId xmlns:p14="http://schemas.microsoft.com/office/powerpoint/2010/main" val="3971124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51AEC-4053-3252-AF3C-446A585BD51B}"/>
              </a:ext>
            </a:extLst>
          </p:cNvPr>
          <p:cNvSpPr>
            <a:spLocks noGrp="1"/>
          </p:cNvSpPr>
          <p:nvPr>
            <p:ph type="title"/>
          </p:nvPr>
        </p:nvSpPr>
        <p:spPr>
          <a:xfrm>
            <a:off x="431229" y="675099"/>
            <a:ext cx="9942409" cy="876193"/>
          </a:xfrm>
        </p:spPr>
        <p:txBody>
          <a:bodyPr/>
          <a:lstStyle/>
          <a:p>
            <a:r>
              <a:rPr lang="en-US" b="1" dirty="0">
                <a:solidFill>
                  <a:srgbClr val="F0F6FC"/>
                </a:solidFill>
                <a:highlight>
                  <a:srgbClr val="0D1117"/>
                </a:highlight>
              </a:rPr>
              <a:t>How It Works – Screening</a:t>
            </a:r>
            <a:endParaRPr lang="en-US" dirty="0"/>
          </a:p>
          <a:p>
            <a:endParaRPr lang="en-US"/>
          </a:p>
        </p:txBody>
      </p:sp>
      <p:sp>
        <p:nvSpPr>
          <p:cNvPr id="4" name="Date Placeholder 3">
            <a:extLst>
              <a:ext uri="{FF2B5EF4-FFF2-40B4-BE49-F238E27FC236}">
                <a16:creationId xmlns:a16="http://schemas.microsoft.com/office/drawing/2014/main" id="{9EC9216C-E2E6-E5F4-4398-C2E1D25CB3B1}"/>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DA09A213-3BB6-5686-6B09-95840AE71A8D}"/>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10" name="Picture 9" descr="A screenshot of a computer&#10;&#10;AI-generated content may be incorrect.">
            <a:extLst>
              <a:ext uri="{FF2B5EF4-FFF2-40B4-BE49-F238E27FC236}">
                <a16:creationId xmlns:a16="http://schemas.microsoft.com/office/drawing/2014/main" id="{65612151-BA78-04BA-41EF-8B5DC5D751F1}"/>
              </a:ext>
            </a:extLst>
          </p:cNvPr>
          <p:cNvPicPr>
            <a:picLocks noChangeAspect="1"/>
          </p:cNvPicPr>
          <p:nvPr/>
        </p:nvPicPr>
        <p:blipFill>
          <a:blip r:embed="rId2"/>
          <a:stretch>
            <a:fillRect/>
          </a:stretch>
        </p:blipFill>
        <p:spPr>
          <a:xfrm>
            <a:off x="979513" y="1311022"/>
            <a:ext cx="10229590" cy="5235501"/>
          </a:xfrm>
          <a:prstGeom prst="rect">
            <a:avLst/>
          </a:prstGeom>
        </p:spPr>
      </p:pic>
    </p:spTree>
    <p:extLst>
      <p:ext uri="{BB962C8B-B14F-4D97-AF65-F5344CB8AC3E}">
        <p14:creationId xmlns:p14="http://schemas.microsoft.com/office/powerpoint/2010/main" val="490465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AC227-BB66-D930-FFA1-B39B686DB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746A6-4881-123D-0091-21EBB6931E6E}"/>
              </a:ext>
            </a:extLst>
          </p:cNvPr>
          <p:cNvSpPr>
            <a:spLocks noGrp="1"/>
          </p:cNvSpPr>
          <p:nvPr>
            <p:ph type="title"/>
          </p:nvPr>
        </p:nvSpPr>
        <p:spPr>
          <a:xfrm>
            <a:off x="431229" y="675099"/>
            <a:ext cx="9942409" cy="876193"/>
          </a:xfrm>
        </p:spPr>
        <p:txBody>
          <a:bodyPr/>
          <a:lstStyle/>
          <a:p>
            <a:r>
              <a:rPr lang="en-US" b="1">
                <a:solidFill>
                  <a:srgbClr val="F0F6FC"/>
                </a:solidFill>
                <a:highlight>
                  <a:srgbClr val="0D1117"/>
                </a:highlight>
              </a:rPr>
              <a:t>How It Works – Screening</a:t>
            </a:r>
            <a:endParaRPr lang="en-US"/>
          </a:p>
          <a:p>
            <a:endParaRPr lang="en-US"/>
          </a:p>
        </p:txBody>
      </p:sp>
      <p:sp>
        <p:nvSpPr>
          <p:cNvPr id="4" name="Date Placeholder 3">
            <a:extLst>
              <a:ext uri="{FF2B5EF4-FFF2-40B4-BE49-F238E27FC236}">
                <a16:creationId xmlns:a16="http://schemas.microsoft.com/office/drawing/2014/main" id="{D09E244C-DBFB-B2DB-3051-34D5A2C76F32}"/>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51A7E427-19A6-0015-74F2-2207AFDCCEA3}"/>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7" name="Picture 6" descr="A screenshot of a computer">
            <a:extLst>
              <a:ext uri="{FF2B5EF4-FFF2-40B4-BE49-F238E27FC236}">
                <a16:creationId xmlns:a16="http://schemas.microsoft.com/office/drawing/2014/main" id="{17A312B8-B58E-4E4A-D51F-EE9EB63452F5}"/>
              </a:ext>
            </a:extLst>
          </p:cNvPr>
          <p:cNvPicPr>
            <a:picLocks noChangeAspect="1"/>
          </p:cNvPicPr>
          <p:nvPr/>
        </p:nvPicPr>
        <p:blipFill>
          <a:blip r:embed="rId2"/>
          <a:stretch>
            <a:fillRect/>
          </a:stretch>
        </p:blipFill>
        <p:spPr>
          <a:xfrm>
            <a:off x="908137" y="1471921"/>
            <a:ext cx="10375727" cy="4968431"/>
          </a:xfrm>
          <a:prstGeom prst="rect">
            <a:avLst/>
          </a:prstGeom>
        </p:spPr>
      </p:pic>
    </p:spTree>
    <p:extLst>
      <p:ext uri="{BB962C8B-B14F-4D97-AF65-F5344CB8AC3E}">
        <p14:creationId xmlns:p14="http://schemas.microsoft.com/office/powerpoint/2010/main" val="361257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FD882-291F-979D-51AE-E99B70AD0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A54FC-31E9-C88A-48B9-EB2229AB6883}"/>
              </a:ext>
            </a:extLst>
          </p:cNvPr>
          <p:cNvSpPr>
            <a:spLocks noGrp="1"/>
          </p:cNvSpPr>
          <p:nvPr>
            <p:ph type="title"/>
          </p:nvPr>
        </p:nvSpPr>
        <p:spPr>
          <a:xfrm>
            <a:off x="431229" y="675099"/>
            <a:ext cx="9942409" cy="876193"/>
          </a:xfrm>
        </p:spPr>
        <p:txBody>
          <a:bodyPr/>
          <a:lstStyle/>
          <a:p>
            <a:r>
              <a:rPr lang="en-US" b="1" dirty="0">
                <a:solidFill>
                  <a:srgbClr val="F0F6FC"/>
                </a:solidFill>
                <a:highlight>
                  <a:srgbClr val="0D1117"/>
                </a:highlight>
              </a:rPr>
              <a:t>How It Works – Kanban View</a:t>
            </a:r>
            <a:endParaRPr lang="en-US" dirty="0"/>
          </a:p>
          <a:p>
            <a:endParaRPr lang="en-US"/>
          </a:p>
        </p:txBody>
      </p:sp>
      <p:sp>
        <p:nvSpPr>
          <p:cNvPr id="4" name="Date Placeholder 3">
            <a:extLst>
              <a:ext uri="{FF2B5EF4-FFF2-40B4-BE49-F238E27FC236}">
                <a16:creationId xmlns:a16="http://schemas.microsoft.com/office/drawing/2014/main" id="{1EA0F10D-B4A1-6A7B-A9FB-CF632FA5699A}"/>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F1837720-DB2B-9DA1-2039-571D0D8FF9F8}"/>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6" name="Picture 5" descr="A screenshot of a chat&#10;&#10;AI-generated content may be incorrect.">
            <a:extLst>
              <a:ext uri="{FF2B5EF4-FFF2-40B4-BE49-F238E27FC236}">
                <a16:creationId xmlns:a16="http://schemas.microsoft.com/office/drawing/2014/main" id="{36B69B4D-7FB4-E19A-AA96-6E51236E5D30}"/>
              </a:ext>
            </a:extLst>
          </p:cNvPr>
          <p:cNvPicPr>
            <a:picLocks noChangeAspect="1"/>
          </p:cNvPicPr>
          <p:nvPr/>
        </p:nvPicPr>
        <p:blipFill>
          <a:blip r:embed="rId2"/>
          <a:stretch>
            <a:fillRect/>
          </a:stretch>
        </p:blipFill>
        <p:spPr>
          <a:xfrm>
            <a:off x="607541" y="1227734"/>
            <a:ext cx="10801865" cy="5411668"/>
          </a:xfrm>
          <a:prstGeom prst="rect">
            <a:avLst/>
          </a:prstGeom>
        </p:spPr>
      </p:pic>
    </p:spTree>
    <p:extLst>
      <p:ext uri="{BB962C8B-B14F-4D97-AF65-F5344CB8AC3E}">
        <p14:creationId xmlns:p14="http://schemas.microsoft.com/office/powerpoint/2010/main" val="2033518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B0AD-2495-2A9A-505A-27A705988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2AD94-562B-4A73-739A-DDEC468CE957}"/>
              </a:ext>
            </a:extLst>
          </p:cNvPr>
          <p:cNvSpPr>
            <a:spLocks noGrp="1"/>
          </p:cNvSpPr>
          <p:nvPr>
            <p:ph type="title"/>
          </p:nvPr>
        </p:nvSpPr>
        <p:spPr>
          <a:xfrm>
            <a:off x="431229" y="675099"/>
            <a:ext cx="9942409" cy="876193"/>
          </a:xfrm>
        </p:spPr>
        <p:txBody>
          <a:bodyPr/>
          <a:lstStyle/>
          <a:p>
            <a:r>
              <a:rPr lang="en-US" b="1" dirty="0">
                <a:solidFill>
                  <a:srgbClr val="F0F6FC"/>
                </a:solidFill>
                <a:highlight>
                  <a:srgbClr val="0D1117"/>
                </a:highlight>
              </a:rPr>
              <a:t>How It Works – Kanban Card Detail View</a:t>
            </a:r>
            <a:endParaRPr lang="en-US" dirty="0"/>
          </a:p>
          <a:p>
            <a:endParaRPr lang="en-US"/>
          </a:p>
        </p:txBody>
      </p:sp>
      <p:sp>
        <p:nvSpPr>
          <p:cNvPr id="4" name="Date Placeholder 3">
            <a:extLst>
              <a:ext uri="{FF2B5EF4-FFF2-40B4-BE49-F238E27FC236}">
                <a16:creationId xmlns:a16="http://schemas.microsoft.com/office/drawing/2014/main" id="{E0C7B7A8-80F8-7617-C702-CEB5A36809A4}"/>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4B7A9754-ACA3-D155-1E94-4EF3C75DEC2E}"/>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7" name="Picture 6" descr="A screenshot of a computer&#10;&#10;AI-generated content may be incorrect.">
            <a:extLst>
              <a:ext uri="{FF2B5EF4-FFF2-40B4-BE49-F238E27FC236}">
                <a16:creationId xmlns:a16="http://schemas.microsoft.com/office/drawing/2014/main" id="{592C2BE0-8C64-F5A6-D0AA-8C4757E0E329}"/>
              </a:ext>
            </a:extLst>
          </p:cNvPr>
          <p:cNvPicPr>
            <a:picLocks noChangeAspect="1"/>
          </p:cNvPicPr>
          <p:nvPr/>
        </p:nvPicPr>
        <p:blipFill>
          <a:blip r:embed="rId2"/>
          <a:stretch>
            <a:fillRect/>
          </a:stretch>
        </p:blipFill>
        <p:spPr>
          <a:xfrm>
            <a:off x="1359243" y="1395574"/>
            <a:ext cx="10070757" cy="5055394"/>
          </a:xfrm>
          <a:prstGeom prst="rect">
            <a:avLst/>
          </a:prstGeom>
        </p:spPr>
      </p:pic>
    </p:spTree>
    <p:extLst>
      <p:ext uri="{BB962C8B-B14F-4D97-AF65-F5344CB8AC3E}">
        <p14:creationId xmlns:p14="http://schemas.microsoft.com/office/powerpoint/2010/main" val="3346018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9F708-A24C-C12A-31DA-387D3A5EB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AD6D2-34EA-C8E7-9E72-448F3CE8E30A}"/>
              </a:ext>
            </a:extLst>
          </p:cNvPr>
          <p:cNvSpPr>
            <a:spLocks noGrp="1"/>
          </p:cNvSpPr>
          <p:nvPr>
            <p:ph type="title"/>
          </p:nvPr>
        </p:nvSpPr>
        <p:spPr>
          <a:xfrm>
            <a:off x="431229" y="675099"/>
            <a:ext cx="9942409" cy="876193"/>
          </a:xfrm>
        </p:spPr>
        <p:txBody>
          <a:bodyPr/>
          <a:lstStyle/>
          <a:p>
            <a:r>
              <a:rPr lang="en-US" b="1" dirty="0">
                <a:solidFill>
                  <a:srgbClr val="F0F6FC"/>
                </a:solidFill>
                <a:highlight>
                  <a:srgbClr val="0D1117"/>
                </a:highlight>
              </a:rPr>
              <a:t>How It Works – Kanban Card Detail View</a:t>
            </a:r>
            <a:endParaRPr lang="en-US" dirty="0"/>
          </a:p>
          <a:p>
            <a:endParaRPr lang="en-US"/>
          </a:p>
        </p:txBody>
      </p:sp>
      <p:sp>
        <p:nvSpPr>
          <p:cNvPr id="4" name="Date Placeholder 3">
            <a:extLst>
              <a:ext uri="{FF2B5EF4-FFF2-40B4-BE49-F238E27FC236}">
                <a16:creationId xmlns:a16="http://schemas.microsoft.com/office/drawing/2014/main" id="{A01EE4D7-DB82-3FFE-DD78-9ECF0FB6D6F2}"/>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9" name="Content Placeholder 8">
            <a:extLst>
              <a:ext uri="{FF2B5EF4-FFF2-40B4-BE49-F238E27FC236}">
                <a16:creationId xmlns:a16="http://schemas.microsoft.com/office/drawing/2014/main" id="{398077F5-AF4D-A67F-6374-7B3AB0DCE5E5}"/>
              </a:ext>
            </a:extLst>
          </p:cNvPr>
          <p:cNvSpPr>
            <a:spLocks noGrp="1"/>
          </p:cNvSpPr>
          <p:nvPr>
            <p:ph idx="1"/>
          </p:nvPr>
        </p:nvSpPr>
        <p:spPr/>
        <p:txBody>
          <a:bodyPr vert="horz" lIns="91440" tIns="45720" rIns="91440" bIns="45720" rtlCol="0" anchor="t">
            <a:normAutofit/>
          </a:bodyPr>
          <a:lstStyle/>
          <a:p>
            <a:pPr marL="342900" indent="-342900">
              <a:buAutoNum type="arabicPeriod"/>
            </a:pPr>
            <a:endParaRPr lang="en-US"/>
          </a:p>
          <a:p>
            <a:endParaRPr lang="en-US"/>
          </a:p>
        </p:txBody>
      </p:sp>
      <p:pic>
        <p:nvPicPr>
          <p:cNvPr id="6" name="Picture 5" descr="A screenshot of a computer&#10;&#10;AI-generated content may be incorrect.">
            <a:extLst>
              <a:ext uri="{FF2B5EF4-FFF2-40B4-BE49-F238E27FC236}">
                <a16:creationId xmlns:a16="http://schemas.microsoft.com/office/drawing/2014/main" id="{502BA710-7EA9-893F-B266-82C996A8FC29}"/>
              </a:ext>
            </a:extLst>
          </p:cNvPr>
          <p:cNvPicPr>
            <a:picLocks noChangeAspect="1"/>
          </p:cNvPicPr>
          <p:nvPr/>
        </p:nvPicPr>
        <p:blipFill>
          <a:blip r:embed="rId2"/>
          <a:stretch>
            <a:fillRect/>
          </a:stretch>
        </p:blipFill>
        <p:spPr>
          <a:xfrm>
            <a:off x="1043836" y="1199505"/>
            <a:ext cx="10386165" cy="5241867"/>
          </a:xfrm>
          <a:prstGeom prst="rect">
            <a:avLst/>
          </a:prstGeom>
        </p:spPr>
      </p:pic>
    </p:spTree>
    <p:extLst>
      <p:ext uri="{BB962C8B-B14F-4D97-AF65-F5344CB8AC3E}">
        <p14:creationId xmlns:p14="http://schemas.microsoft.com/office/powerpoint/2010/main" val="1986701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F6FD6-FC8B-1CC3-8BF0-53C2EA2A3A48}"/>
              </a:ext>
            </a:extLst>
          </p:cNvPr>
          <p:cNvSpPr>
            <a:spLocks noGrp="1"/>
          </p:cNvSpPr>
          <p:nvPr>
            <p:ph type="title"/>
          </p:nvPr>
        </p:nvSpPr>
        <p:spPr/>
        <p:txBody>
          <a:bodyPr>
            <a:normAutofit/>
          </a:bodyPr>
          <a:lstStyle/>
          <a:p>
            <a:r>
              <a:rPr lang="en-US" sz="3200" b="1" dirty="0">
                <a:solidFill>
                  <a:srgbClr val="F0F6FC"/>
                </a:solidFill>
                <a:ea typeface="+mj-lt"/>
                <a:cs typeface="+mj-lt"/>
              </a:rPr>
              <a:t>The Solution - Benefits</a:t>
            </a:r>
            <a:endParaRPr lang="en-US" sz="3200"/>
          </a:p>
        </p:txBody>
      </p:sp>
      <p:sp>
        <p:nvSpPr>
          <p:cNvPr id="3" name="Date Placeholder 2">
            <a:extLst>
              <a:ext uri="{FF2B5EF4-FFF2-40B4-BE49-F238E27FC236}">
                <a16:creationId xmlns:a16="http://schemas.microsoft.com/office/drawing/2014/main" id="{755DBCF3-371E-CE2F-C16E-63BF891E1766}"/>
              </a:ext>
            </a:extLst>
          </p:cNvPr>
          <p:cNvSpPr>
            <a:spLocks noGrp="1"/>
          </p:cNvSpPr>
          <p:nvPr>
            <p:ph type="dt" sz="half" idx="10"/>
          </p:nvPr>
        </p:nvSpPr>
        <p:spPr/>
        <p:txBody>
          <a:bodyPr/>
          <a:lstStyle/>
          <a:p>
            <a:fld id="{44BE14B8-5058-4271-B378-2217DE83796E}" type="datetime1">
              <a:rPr lang="en-US" smtClean="0"/>
              <a:pPr/>
              <a:t>3/1/2026</a:t>
            </a:fld>
            <a:endParaRPr lang="en-US"/>
          </a:p>
        </p:txBody>
      </p:sp>
      <p:graphicFrame>
        <p:nvGraphicFramePr>
          <p:cNvPr id="9" name="Content Placeholder 8">
            <a:extLst>
              <a:ext uri="{FF2B5EF4-FFF2-40B4-BE49-F238E27FC236}">
                <a16:creationId xmlns:a16="http://schemas.microsoft.com/office/drawing/2014/main" id="{FA5DA2C1-8615-4A4D-D0B7-634891E771E9}"/>
              </a:ext>
            </a:extLst>
          </p:cNvPr>
          <p:cNvGraphicFramePr>
            <a:graphicFrameLocks noGrp="1"/>
          </p:cNvGraphicFramePr>
          <p:nvPr>
            <p:ph idx="1"/>
            <p:extLst>
              <p:ext uri="{D42A27DB-BD31-4B8C-83A1-F6EECF244321}">
                <p14:modId xmlns:p14="http://schemas.microsoft.com/office/powerpoint/2010/main" val="453478873"/>
              </p:ext>
            </p:extLst>
          </p:nvPr>
        </p:nvGraphicFramePr>
        <p:xfrm>
          <a:off x="636739" y="2578273"/>
          <a:ext cx="9920069" cy="2720340"/>
        </p:xfrm>
        <a:graphic>
          <a:graphicData uri="http://schemas.openxmlformats.org/drawingml/2006/table">
            <a:tbl>
              <a:tblPr bandRow="1">
                <a:tableStyleId>{5C22544A-7EE6-4342-B048-85BDC9FD1C3A}</a:tableStyleId>
              </a:tblPr>
              <a:tblGrid>
                <a:gridCol w="3291727">
                  <a:extLst>
                    <a:ext uri="{9D8B030D-6E8A-4147-A177-3AD203B41FA5}">
                      <a16:colId xmlns:a16="http://schemas.microsoft.com/office/drawing/2014/main" val="1228008603"/>
                    </a:ext>
                  </a:extLst>
                </a:gridCol>
                <a:gridCol w="3314171">
                  <a:extLst>
                    <a:ext uri="{9D8B030D-6E8A-4147-A177-3AD203B41FA5}">
                      <a16:colId xmlns:a16="http://schemas.microsoft.com/office/drawing/2014/main" val="2990205230"/>
                    </a:ext>
                  </a:extLst>
                </a:gridCol>
                <a:gridCol w="3314171">
                  <a:extLst>
                    <a:ext uri="{9D8B030D-6E8A-4147-A177-3AD203B41FA5}">
                      <a16:colId xmlns:a16="http://schemas.microsoft.com/office/drawing/2014/main" val="2058965690"/>
                    </a:ext>
                  </a:extLst>
                </a:gridCol>
              </a:tblGrid>
              <a:tr h="0">
                <a:tc>
                  <a:txBody>
                    <a:bodyPr/>
                    <a:lstStyle/>
                    <a:p>
                      <a:pPr>
                        <a:buNone/>
                      </a:pPr>
                      <a:r>
                        <a:rPr lang="en-US" b="1" dirty="0">
                          <a:solidFill>
                            <a:schemeClr val="tx1"/>
                          </a:solidFill>
                          <a:effectLst/>
                        </a:rPr>
                        <a:t>Problem</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b="1" dirty="0">
                          <a:solidFill>
                            <a:schemeClr val="tx1"/>
                          </a:solidFill>
                          <a:effectLst/>
                        </a:rPr>
                        <a:t>Our Solution</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b="1" dirty="0">
                          <a:solidFill>
                            <a:schemeClr val="tx1"/>
                          </a:solidFill>
                          <a:effectLst/>
                        </a:rPr>
                        <a:t>Benefit</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800465783"/>
                  </a:ext>
                </a:extLst>
              </a:tr>
              <a:tr h="0">
                <a:tc>
                  <a:txBody>
                    <a:bodyPr/>
                    <a:lstStyle/>
                    <a:p>
                      <a:pPr>
                        <a:buNone/>
                      </a:pPr>
                      <a:r>
                        <a:rPr lang="en-US" dirty="0">
                          <a:solidFill>
                            <a:schemeClr val="tx1"/>
                          </a:solidFill>
                          <a:effectLst/>
                        </a:rPr>
                        <a:t>Slow screening</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AI evaluation in 2 seconds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Save 90% time</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3778775232"/>
                  </a:ext>
                </a:extLst>
              </a:tr>
              <a:tr h="0">
                <a:tc>
                  <a:txBody>
                    <a:bodyPr/>
                    <a:lstStyle/>
                    <a:p>
                      <a:pPr>
                        <a:buNone/>
                      </a:pPr>
                      <a:r>
                        <a:rPr lang="en-US" dirty="0">
                          <a:solidFill>
                            <a:schemeClr val="tx1"/>
                          </a:solidFill>
                          <a:effectLst/>
                        </a:rPr>
                        <a:t>Lost resumes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Kanban board with all data</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Organized data</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2824640400"/>
                  </a:ext>
                </a:extLst>
              </a:tr>
              <a:tr h="0">
                <a:tc>
                  <a:txBody>
                    <a:bodyPr/>
                    <a:lstStyle/>
                    <a:p>
                      <a:pPr>
                        <a:buNone/>
                      </a:pPr>
                      <a:r>
                        <a:rPr lang="en-US" dirty="0">
                          <a:solidFill>
                            <a:schemeClr val="tx1"/>
                          </a:solidFill>
                          <a:effectLst/>
                        </a:rPr>
                        <a:t>No interview records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Interview tracking fields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Better feedback</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1993733060"/>
                  </a:ext>
                </a:extLst>
              </a:tr>
              <a:tr h="0">
                <a:tc>
                  <a:txBody>
                    <a:bodyPr/>
                    <a:lstStyle/>
                    <a:p>
                      <a:pPr>
                        <a:buNone/>
                      </a:pPr>
                      <a:r>
                        <a:rPr lang="en-US" dirty="0">
                          <a:solidFill>
                            <a:schemeClr val="tx1"/>
                          </a:solidFill>
                          <a:effectLst/>
                        </a:rPr>
                        <a:t>Duplicate entries</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Auto duplicate detection</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Clean database</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4240635687"/>
                  </a:ext>
                </a:extLst>
              </a:tr>
              <a:tr h="0">
                <a:tc>
                  <a:txBody>
                    <a:bodyPr/>
                    <a:lstStyle/>
                    <a:p>
                      <a:pPr>
                        <a:buNone/>
                      </a:pPr>
                      <a:r>
                        <a:rPr lang="en-US" dirty="0">
                          <a:solidFill>
                            <a:schemeClr val="tx1"/>
                          </a:solidFill>
                          <a:effectLst/>
                        </a:rPr>
                        <a:t>App switching</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Built-in WhatsApp/Email</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tc>
                  <a:txBody>
                    <a:bodyPr/>
                    <a:lstStyle/>
                    <a:p>
                      <a:pPr>
                        <a:buNone/>
                      </a:pPr>
                      <a:r>
                        <a:rPr lang="en-US" dirty="0">
                          <a:solidFill>
                            <a:schemeClr val="tx1"/>
                          </a:solidFill>
                          <a:effectLst/>
                        </a:rPr>
                        <a:t>Faster communication</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151B23"/>
                    </a:solidFill>
                  </a:tcPr>
                </a:tc>
                <a:extLst>
                  <a:ext uri="{0D108BD9-81ED-4DB2-BD59-A6C34878D82A}">
                    <a16:rowId xmlns:a16="http://schemas.microsoft.com/office/drawing/2014/main" val="358071655"/>
                  </a:ext>
                </a:extLst>
              </a:tr>
              <a:tr h="0">
                <a:tc>
                  <a:txBody>
                    <a:bodyPr/>
                    <a:lstStyle/>
                    <a:p>
                      <a:pPr>
                        <a:buNone/>
                      </a:pPr>
                      <a:r>
                        <a:rPr lang="en-US" dirty="0">
                          <a:solidFill>
                            <a:schemeClr val="tx1"/>
                          </a:solidFill>
                          <a:effectLst/>
                        </a:rPr>
                        <a:t>Changing JD by mistake</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JD Lock feature</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tc>
                  <a:txBody>
                    <a:bodyPr/>
                    <a:lstStyle/>
                    <a:p>
                      <a:pPr>
                        <a:buNone/>
                      </a:pPr>
                      <a:r>
                        <a:rPr lang="en-US" dirty="0">
                          <a:solidFill>
                            <a:schemeClr val="tx1"/>
                          </a:solidFill>
                          <a:effectLst/>
                        </a:rPr>
                        <a:t>Accurate screening</a:t>
                      </a:r>
                    </a:p>
                  </a:txBody>
                  <a:tcPr marL="123825" marR="123825" marT="57150" marB="57150" anchor="ctr">
                    <a:lnL w="7620" cap="flat" cmpd="sng" algn="ctr">
                      <a:solidFill>
                        <a:srgbClr val="3D444D"/>
                      </a:solidFill>
                      <a:prstDash val="solid"/>
                      <a:round/>
                      <a:headEnd type="none" w="med" len="med"/>
                      <a:tailEnd type="none" w="med" len="med"/>
                    </a:lnL>
                    <a:lnR w="7620" cap="flat" cmpd="sng" algn="ctr">
                      <a:solidFill>
                        <a:srgbClr val="3D444D"/>
                      </a:solidFill>
                      <a:prstDash val="solid"/>
                      <a:round/>
                      <a:headEnd type="none" w="med" len="med"/>
                      <a:tailEnd type="none" w="med" len="med"/>
                    </a:lnR>
                    <a:lnT w="7620" cap="flat" cmpd="sng" algn="ctr">
                      <a:solidFill>
                        <a:srgbClr val="3D444D"/>
                      </a:solidFill>
                      <a:prstDash val="solid"/>
                      <a:round/>
                      <a:headEnd type="none" w="med" len="med"/>
                      <a:tailEnd type="none" w="med" len="med"/>
                    </a:lnT>
                    <a:lnB w="7620" cap="flat" cmpd="sng" algn="ctr">
                      <a:solidFill>
                        <a:srgbClr val="3D444D"/>
                      </a:solidFill>
                      <a:prstDash val="solid"/>
                      <a:round/>
                      <a:headEnd type="none" w="med" len="med"/>
                      <a:tailEnd type="none" w="med" len="med"/>
                    </a:lnB>
                    <a:solidFill>
                      <a:srgbClr val="0D1117"/>
                    </a:solidFill>
                  </a:tcPr>
                </a:tc>
                <a:extLst>
                  <a:ext uri="{0D108BD9-81ED-4DB2-BD59-A6C34878D82A}">
                    <a16:rowId xmlns:a16="http://schemas.microsoft.com/office/drawing/2014/main" val="1838739422"/>
                  </a:ext>
                </a:extLst>
              </a:tr>
            </a:tbl>
          </a:graphicData>
        </a:graphic>
      </p:graphicFrame>
    </p:spTree>
    <p:extLst>
      <p:ext uri="{BB962C8B-B14F-4D97-AF65-F5344CB8AC3E}">
        <p14:creationId xmlns:p14="http://schemas.microsoft.com/office/powerpoint/2010/main" val="2311061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C050A-B672-CBC5-8758-9A4D069E393D}"/>
              </a:ext>
            </a:extLst>
          </p:cNvPr>
          <p:cNvSpPr>
            <a:spLocks noGrp="1"/>
          </p:cNvSpPr>
          <p:nvPr>
            <p:ph type="title"/>
          </p:nvPr>
        </p:nvSpPr>
        <p:spPr/>
        <p:txBody>
          <a:bodyPr/>
          <a:lstStyle/>
          <a:p>
            <a:r>
              <a:rPr lang="en-US" dirty="0"/>
              <a:t>Get Suggestion &amp; Ideas</a:t>
            </a:r>
          </a:p>
        </p:txBody>
      </p:sp>
      <p:sp>
        <p:nvSpPr>
          <p:cNvPr id="4" name="Date Placeholder 3">
            <a:extLst>
              <a:ext uri="{FF2B5EF4-FFF2-40B4-BE49-F238E27FC236}">
                <a16:creationId xmlns:a16="http://schemas.microsoft.com/office/drawing/2014/main" id="{14664522-A7EF-E626-4A4A-E3E689BB4361}"/>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6" name="Content Placeholder 5">
            <a:extLst>
              <a:ext uri="{FF2B5EF4-FFF2-40B4-BE49-F238E27FC236}">
                <a16:creationId xmlns:a16="http://schemas.microsoft.com/office/drawing/2014/main" id="{F40AA03C-ED16-7C9D-93AA-F6FBB3834E63}"/>
              </a:ext>
            </a:extLst>
          </p:cNvPr>
          <p:cNvSpPr>
            <a:spLocks noGrp="1"/>
          </p:cNvSpPr>
          <p:nvPr>
            <p:ph idx="1"/>
          </p:nvPr>
        </p:nvSpPr>
        <p:spPr>
          <a:xfrm>
            <a:off x="418979" y="1987463"/>
            <a:ext cx="9942409" cy="4305300"/>
          </a:xfrm>
        </p:spPr>
        <p:txBody>
          <a:bodyPr vert="horz" lIns="91440" tIns="45720" rIns="91440" bIns="45720" rtlCol="0" anchor="t">
            <a:normAutofit/>
          </a:bodyPr>
          <a:lstStyle/>
          <a:p>
            <a:pPr marL="285750" indent="-285750">
              <a:buChar char="•"/>
            </a:pPr>
            <a:r>
              <a:rPr lang="en-US" sz="1600" dirty="0"/>
              <a:t>Need to add User and Role Management</a:t>
            </a:r>
          </a:p>
          <a:p>
            <a:pPr marL="285750" indent="-285750">
              <a:buChar char="•"/>
            </a:pPr>
            <a:r>
              <a:rPr lang="en-US" sz="1600" dirty="0"/>
              <a:t>Auto Mail Triggers while Move to Different Stage in Kanban</a:t>
            </a:r>
          </a:p>
          <a:p>
            <a:pPr marL="285750" indent="-285750">
              <a:buChar char="•"/>
            </a:pPr>
            <a:r>
              <a:rPr lang="en-US" sz="1600" dirty="0"/>
              <a:t>Auto Notification Send while anyone add the comment or Update the Status,</a:t>
            </a:r>
          </a:p>
          <a:p>
            <a:pPr marL="285750" indent="-285750">
              <a:buChar char="•"/>
            </a:pPr>
            <a:r>
              <a:rPr lang="en-US" sz="1600" dirty="0"/>
              <a:t>If Anyone Send the Mail / What's app message that will store in History Maintained</a:t>
            </a:r>
          </a:p>
          <a:p>
            <a:pPr marL="285750" indent="-285750">
              <a:buChar char="•"/>
            </a:pPr>
            <a:r>
              <a:rPr lang="en-US" sz="1600" dirty="0"/>
              <a:t>Interviewer Comment History Maintained as per Rounds,</a:t>
            </a:r>
          </a:p>
          <a:p>
            <a:pPr marL="285750" indent="-285750">
              <a:buChar char="•"/>
            </a:pPr>
            <a:r>
              <a:rPr lang="en-US" sz="1600" dirty="0"/>
              <a:t>AI Agent Cold Call - R &amp; D</a:t>
            </a:r>
          </a:p>
          <a:p>
            <a:pPr marL="285750" indent="-285750">
              <a:buChar char="•"/>
            </a:pPr>
            <a:endParaRPr lang="en-US" dirty="0"/>
          </a:p>
          <a:p>
            <a:pPr marL="285750" indent="-285750">
              <a:buChar char="•"/>
            </a:pPr>
            <a:r>
              <a:rPr lang="en-US" sz="2000" dirty="0"/>
              <a:t>Missing Part</a:t>
            </a:r>
          </a:p>
          <a:p>
            <a:pPr marL="514350" lvl="1" indent="-285750">
              <a:buFont typeface="Courier New" panose="020B0604020202020204" pitchFamily="34" charset="0"/>
              <a:buChar char="o"/>
            </a:pPr>
            <a:r>
              <a:rPr lang="en-US" dirty="0"/>
              <a:t>Config DB to store data.</a:t>
            </a:r>
          </a:p>
          <a:p>
            <a:pPr marL="285750" indent="-285750">
              <a:buChar char="•"/>
            </a:pPr>
            <a:endParaRPr lang="en-US" dirty="0"/>
          </a:p>
          <a:p>
            <a:pPr marL="285750" indent="-285750">
              <a:buChar char="•"/>
            </a:pPr>
            <a:endParaRPr lang="en-US" dirty="0"/>
          </a:p>
          <a:p>
            <a:pPr marL="285750" indent="-285750">
              <a:buChar char="•"/>
            </a:pPr>
            <a:endParaRPr lang="en-US" dirty="0"/>
          </a:p>
          <a:p>
            <a:pPr marL="285750" indent="-285750">
              <a:buChar char="•"/>
            </a:pPr>
            <a:endParaRPr lang="en-US" dirty="0"/>
          </a:p>
        </p:txBody>
      </p:sp>
    </p:spTree>
    <p:extLst>
      <p:ext uri="{BB962C8B-B14F-4D97-AF65-F5344CB8AC3E}">
        <p14:creationId xmlns:p14="http://schemas.microsoft.com/office/powerpoint/2010/main" val="2136113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2E408-E151-BC67-2F97-6FCCF0A22049}"/>
              </a:ext>
            </a:extLst>
          </p:cNvPr>
          <p:cNvSpPr>
            <a:spLocks noGrp="1"/>
          </p:cNvSpPr>
          <p:nvPr>
            <p:ph type="title"/>
          </p:nvPr>
        </p:nvSpPr>
        <p:spPr/>
        <p:txBody>
          <a:bodyPr/>
          <a:lstStyle/>
          <a:p>
            <a:r>
              <a:rPr lang="en-US" dirty="0"/>
              <a:t>Get Suggestion &amp; Ideas</a:t>
            </a:r>
          </a:p>
        </p:txBody>
      </p:sp>
      <p:sp>
        <p:nvSpPr>
          <p:cNvPr id="3" name="Date Placeholder 2">
            <a:extLst>
              <a:ext uri="{FF2B5EF4-FFF2-40B4-BE49-F238E27FC236}">
                <a16:creationId xmlns:a16="http://schemas.microsoft.com/office/drawing/2014/main" id="{4F082EC2-25E4-9234-C689-231DA6D45963}"/>
              </a:ext>
            </a:extLst>
          </p:cNvPr>
          <p:cNvSpPr>
            <a:spLocks noGrp="1"/>
          </p:cNvSpPr>
          <p:nvPr>
            <p:ph type="dt" sz="half" idx="10"/>
          </p:nvPr>
        </p:nvSpPr>
        <p:spPr/>
        <p:txBody>
          <a:bodyPr/>
          <a:lstStyle/>
          <a:p>
            <a:fld id="{44BE14B8-5058-4271-B378-2217DE83796E}" type="datetime1">
              <a:rPr lang="en-US" smtClean="0"/>
              <a:pPr/>
              <a:t>3/1/2026</a:t>
            </a:fld>
            <a:endParaRPr lang="en-US"/>
          </a:p>
        </p:txBody>
      </p:sp>
      <p:sp>
        <p:nvSpPr>
          <p:cNvPr id="4" name="Content Placeholder 3">
            <a:extLst>
              <a:ext uri="{FF2B5EF4-FFF2-40B4-BE49-F238E27FC236}">
                <a16:creationId xmlns:a16="http://schemas.microsoft.com/office/drawing/2014/main" id="{C4D1F887-02C0-E96C-8500-80638E3F3481}"/>
              </a:ext>
            </a:extLst>
          </p:cNvPr>
          <p:cNvSpPr>
            <a:spLocks noGrp="1"/>
          </p:cNvSpPr>
          <p:nvPr>
            <p:ph idx="1"/>
          </p:nvPr>
        </p:nvSpPr>
        <p:spPr/>
        <p:txBody>
          <a:bodyPr vert="horz" lIns="91440" tIns="45720" rIns="91440" bIns="45720" rtlCol="0" anchor="t">
            <a:normAutofit/>
          </a:bodyPr>
          <a:lstStyle/>
          <a:p>
            <a:r>
              <a:rPr lang="en-US" sz="2000"/>
              <a:t>Get Suggestion:</a:t>
            </a:r>
            <a:endParaRPr lang="en-US"/>
          </a:p>
          <a:p>
            <a:pPr marL="342900" indent="-342900">
              <a:buChar char="•"/>
            </a:pPr>
            <a:endParaRPr lang="en-US" sz="2000" dirty="0"/>
          </a:p>
          <a:p>
            <a:pPr marL="342900" indent="-342900">
              <a:buChar char="•"/>
            </a:pPr>
            <a:endParaRPr lang="en-US" sz="2000" dirty="0"/>
          </a:p>
          <a:p>
            <a:pPr marL="342900" indent="-342900">
              <a:buChar char="•"/>
            </a:pPr>
            <a:endParaRPr lang="en-US" sz="2000" dirty="0"/>
          </a:p>
          <a:p>
            <a:r>
              <a:rPr lang="en-US" sz="2000" dirty="0"/>
              <a:t>Get Changes:</a:t>
            </a:r>
          </a:p>
          <a:p>
            <a:endParaRPr lang="en-US" sz="2000" dirty="0"/>
          </a:p>
        </p:txBody>
      </p:sp>
    </p:spTree>
    <p:extLst>
      <p:ext uri="{BB962C8B-B14F-4D97-AF65-F5344CB8AC3E}">
        <p14:creationId xmlns:p14="http://schemas.microsoft.com/office/powerpoint/2010/main" val="84427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087EE-0592-96E7-4397-EC3D781783EA}"/>
              </a:ext>
            </a:extLst>
          </p:cNvPr>
          <p:cNvSpPr>
            <a:spLocks noGrp="1"/>
          </p:cNvSpPr>
          <p:nvPr>
            <p:ph type="title"/>
          </p:nvPr>
        </p:nvSpPr>
        <p:spPr>
          <a:xfrm>
            <a:off x="3896764" y="2951084"/>
            <a:ext cx="4390755" cy="953211"/>
          </a:xfrm>
        </p:spPr>
        <p:txBody>
          <a:bodyPr>
            <a:normAutofit/>
          </a:bodyPr>
          <a:lstStyle/>
          <a:p>
            <a:r>
              <a:rPr lang="en-US" sz="6600" dirty="0"/>
              <a:t>Thank You</a:t>
            </a:r>
          </a:p>
        </p:txBody>
      </p:sp>
      <p:sp>
        <p:nvSpPr>
          <p:cNvPr id="4" name="Date Placeholder 3">
            <a:extLst>
              <a:ext uri="{FF2B5EF4-FFF2-40B4-BE49-F238E27FC236}">
                <a16:creationId xmlns:a16="http://schemas.microsoft.com/office/drawing/2014/main" id="{4508B8DC-EB9F-472E-DDEB-4A039F5B3DBE}"/>
              </a:ext>
            </a:extLst>
          </p:cNvPr>
          <p:cNvSpPr>
            <a:spLocks noGrp="1"/>
          </p:cNvSpPr>
          <p:nvPr>
            <p:ph type="dt" sz="half" idx="10"/>
          </p:nvPr>
        </p:nvSpPr>
        <p:spPr/>
        <p:txBody>
          <a:bodyPr/>
          <a:lstStyle/>
          <a:p>
            <a:fld id="{44BE14B8-5058-4271-B378-2217DE83796E}" type="datetime1">
              <a:rPr lang="en-US" smtClean="0"/>
              <a:pPr/>
              <a:t>3/1/2026</a:t>
            </a:fld>
            <a:endParaRPr lang="en-US"/>
          </a:p>
        </p:txBody>
      </p:sp>
    </p:spTree>
    <p:extLst>
      <p:ext uri="{BB962C8B-B14F-4D97-AF65-F5344CB8AC3E}">
        <p14:creationId xmlns:p14="http://schemas.microsoft.com/office/powerpoint/2010/main" val="2907835459"/>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SharedWithUsers xmlns="16c05727-aa75-4e4a-9b5f-8a80a1165891">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7E2546-C5EB-442C-BCA8-1B0D17D61420}">
  <ds:schemaRefs>
    <ds:schemaRef ds:uri="http://schemas.microsoft.com/sharepoint/v3/contenttype/forms"/>
  </ds:schemaRefs>
</ds:datastoreItem>
</file>

<file path=customXml/itemProps2.xml><?xml version="1.0" encoding="utf-8"?>
<ds:datastoreItem xmlns:ds="http://schemas.openxmlformats.org/officeDocument/2006/customXml" ds:itemID="{960BF7B2-4A2B-4CA7-8150-68B962AD6E62}">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B53938E-C8DA-4DDE-A937-0EA87B476A88}">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Film burn</vt:lpstr>
      <vt:lpstr>Presentation  Candidate Screening Agent</vt:lpstr>
      <vt:lpstr>Process</vt:lpstr>
      <vt:lpstr>Current Problems</vt:lpstr>
      <vt:lpstr>Current Problems</vt:lpstr>
      <vt:lpstr>Example Scenario </vt:lpstr>
      <vt:lpstr>Purpose of This System - Why Built This Solution? </vt:lpstr>
      <vt:lpstr>Screening Criteria</vt:lpstr>
      <vt:lpstr>How It Works – Screening </vt:lpstr>
      <vt:lpstr>How It Works – Screening </vt:lpstr>
      <vt:lpstr>How It Works – Kanban View </vt:lpstr>
      <vt:lpstr>How It Works – Kanban Card Detail View </vt:lpstr>
      <vt:lpstr>How It Works – Kanban Card Detail View </vt:lpstr>
      <vt:lpstr>The Solution - Benefits</vt:lpstr>
      <vt:lpstr>Get Suggestion &amp; Ideas</vt:lpstr>
      <vt:lpstr>Get Suggestion &amp; Ideas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354</cp:revision>
  <dcterms:created xsi:type="dcterms:W3CDTF">2026-02-28T05:45:03Z</dcterms:created>
  <dcterms:modified xsi:type="dcterms:W3CDTF">2026-03-02T05:51:26Z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Order">
    <vt:r8>2365000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